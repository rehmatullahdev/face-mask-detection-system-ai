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8288000" cy="10287000"/>
  <p:notesSz cx="6858000" cy="9144000"/>
  <p:embeddedFontLst>
    <p:embeddedFont>
      <p:font typeface="Arimo" panose="020B0604020202020204" charset="0"/>
      <p:regular r:id="rId36"/>
    </p:embeddedFont>
    <p:embeddedFont>
      <p:font typeface="IBM Plex Sans" panose="020B0503050203000203"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0" d="100"/>
          <a:sy n="80" d="100"/>
        </p:scale>
        <p:origin x="114"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29.09.2026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8.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hyperlink" Target="https://gamma.app/?utm_source=made-with-gamma"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76200" y="609600"/>
            <a:ext cx="18227040" cy="9113520"/>
            <a:chOff x="0" y="0"/>
            <a:chExt cx="24302720" cy="12151360"/>
          </a:xfrm>
        </p:grpSpPr>
        <p:sp>
          <p:nvSpPr>
            <p:cNvPr id="7" name="Freeform 7"/>
            <p:cNvSpPr/>
            <p:nvPr/>
          </p:nvSpPr>
          <p:spPr>
            <a:xfrm>
              <a:off x="0" y="0"/>
              <a:ext cx="24302720" cy="12151360"/>
            </a:xfrm>
            <a:custGeom>
              <a:avLst/>
              <a:gdLst/>
              <a:ahLst/>
              <a:cxnLst/>
              <a:rect l="l" t="t" r="r" b="b"/>
              <a:pathLst>
                <a:path w="24302720" h="12151360">
                  <a:moveTo>
                    <a:pt x="0" y="0"/>
                  </a:moveTo>
                  <a:lnTo>
                    <a:pt x="24302720" y="0"/>
                  </a:lnTo>
                  <a:lnTo>
                    <a:pt x="24302720" y="12151360"/>
                  </a:lnTo>
                  <a:lnTo>
                    <a:pt x="0" y="12151360"/>
                  </a:lnTo>
                  <a:lnTo>
                    <a:pt x="0" y="0"/>
                  </a:lnTo>
                  <a:close/>
                </a:path>
              </a:pathLst>
            </a:custGeom>
            <a:blipFill>
              <a:blip r:embed="rId4"/>
              <a:stretch>
                <a:fillRect/>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16058359" y="9688982"/>
            <a:ext cx="2143687" cy="512064"/>
            <a:chOff x="0" y="0"/>
            <a:chExt cx="2858249" cy="682752"/>
          </a:xfrm>
        </p:grpSpPr>
        <p:sp>
          <p:nvSpPr>
            <p:cNvPr id="7" name="Freeform 7" descr="preencoded.png">
              <a:hlinkClick r:id="rId4"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5"/>
              <a:stretch>
                <a:fillRect/>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992238" y="4194419"/>
            <a:ext cx="8998591" cy="952652"/>
          </a:xfrm>
          <a:prstGeom prst="rect">
            <a:avLst/>
          </a:prstGeom>
        </p:spPr>
        <p:txBody>
          <a:bodyPr lIns="0" tIns="0" rIns="0" bIns="0" rtlCol="0" anchor="t">
            <a:spAutoFit/>
          </a:bodyPr>
          <a:lstStyle/>
          <a:p>
            <a:pPr algn="l">
              <a:lnSpc>
                <a:spcPts val="6900"/>
              </a:lnSpc>
            </a:pPr>
            <a:r>
              <a:rPr lang="en-US" sz="5500">
                <a:solidFill>
                  <a:srgbClr val="3F6FF3"/>
                </a:solidFill>
                <a:latin typeface="Arimo"/>
                <a:ea typeface="Arimo"/>
                <a:cs typeface="Arimo"/>
                <a:sym typeface="Arimo"/>
              </a:rPr>
              <a:t>Face Mask Detection System</a:t>
            </a:r>
          </a:p>
        </p:txBody>
      </p:sp>
      <p:sp>
        <p:nvSpPr>
          <p:cNvPr id="11" name="TextBox 11"/>
          <p:cNvSpPr txBox="1"/>
          <p:nvPr/>
        </p:nvSpPr>
        <p:spPr>
          <a:xfrm>
            <a:off x="992238" y="6057900"/>
            <a:ext cx="9445523" cy="539353"/>
          </a:xfrm>
          <a:prstGeom prst="rect">
            <a:avLst/>
          </a:prstGeom>
        </p:spPr>
        <p:txBody>
          <a:bodyPr lIns="0" tIns="0" rIns="0" bIns="0" rtlCol="0" anchor="t">
            <a:spAutoFit/>
          </a:bodyPr>
          <a:lstStyle/>
          <a:p>
            <a:pPr algn="l">
              <a:lnSpc>
                <a:spcPts val="3500"/>
              </a:lnSpc>
            </a:pPr>
            <a:r>
              <a:rPr lang="en-US" sz="2200" dirty="0">
                <a:solidFill>
                  <a:srgbClr val="666666"/>
                </a:solidFill>
                <a:latin typeface="IBM Plex Sans"/>
                <a:ea typeface="IBM Plex Sans"/>
                <a:cs typeface="IBM Plex Sans"/>
                <a:sym typeface="IBM Plex Sans"/>
              </a:rPr>
              <a:t>An Automated Deep Learning Solution for Public Safety Monitoring</a:t>
            </a:r>
          </a:p>
        </p:txBody>
      </p:sp>
      <p:grpSp>
        <p:nvGrpSpPr>
          <p:cNvPr id="12" name="Group 12"/>
          <p:cNvGrpSpPr/>
          <p:nvPr/>
        </p:nvGrpSpPr>
        <p:grpSpPr>
          <a:xfrm>
            <a:off x="15782925" y="8466925"/>
            <a:ext cx="2505075" cy="1820075"/>
            <a:chOff x="0" y="0"/>
            <a:chExt cx="3340100" cy="2426767"/>
          </a:xfrm>
        </p:grpSpPr>
        <p:sp>
          <p:nvSpPr>
            <p:cNvPr id="13" name="Freeform 13" descr="C:\Users\usman.waheed\Desktop\vulogo.jpg"/>
            <p:cNvSpPr/>
            <p:nvPr/>
          </p:nvSpPr>
          <p:spPr>
            <a:xfrm>
              <a:off x="0" y="0"/>
              <a:ext cx="3340100" cy="2426716"/>
            </a:xfrm>
            <a:custGeom>
              <a:avLst/>
              <a:gdLst/>
              <a:ahLst/>
              <a:cxnLst/>
              <a:rect l="l" t="t" r="r" b="b"/>
              <a:pathLst>
                <a:path w="3340100" h="2426716">
                  <a:moveTo>
                    <a:pt x="0" y="0"/>
                  </a:moveTo>
                  <a:lnTo>
                    <a:pt x="3340100" y="0"/>
                  </a:lnTo>
                  <a:lnTo>
                    <a:pt x="3340100" y="2426716"/>
                  </a:lnTo>
                  <a:lnTo>
                    <a:pt x="0" y="2426716"/>
                  </a:lnTo>
                  <a:lnTo>
                    <a:pt x="0" y="0"/>
                  </a:lnTo>
                  <a:close/>
                </a:path>
              </a:pathLst>
            </a:custGeom>
            <a:blipFill>
              <a:blip r:embed="rId7"/>
              <a:stretch>
                <a:fillRect b="-49"/>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50238" y="3283001"/>
            <a:ext cx="7088238" cy="952652"/>
          </a:xfrm>
          <a:prstGeom prst="rect">
            <a:avLst/>
          </a:prstGeom>
        </p:spPr>
        <p:txBody>
          <a:bodyPr lIns="0" tIns="0" rIns="0" bIns="0" rtlCol="0" anchor="t">
            <a:spAutoFit/>
          </a:bodyPr>
          <a:lstStyle/>
          <a:p>
            <a:pPr algn="l">
              <a:lnSpc>
                <a:spcPts val="6900"/>
              </a:lnSpc>
            </a:pPr>
            <a:r>
              <a:rPr lang="en-US" sz="5500">
                <a:solidFill>
                  <a:srgbClr val="3F6FF3"/>
                </a:solidFill>
                <a:latin typeface="Arimo"/>
                <a:ea typeface="Arimo"/>
                <a:cs typeface="Arimo"/>
                <a:sym typeface="Arimo"/>
              </a:rPr>
              <a:t>Group Members</a:t>
            </a:r>
          </a:p>
        </p:txBody>
      </p:sp>
      <p:grpSp>
        <p:nvGrpSpPr>
          <p:cNvPr id="9" name="Group 9"/>
          <p:cNvGrpSpPr/>
          <p:nvPr/>
        </p:nvGrpSpPr>
        <p:grpSpPr>
          <a:xfrm>
            <a:off x="7845476" y="4423915"/>
            <a:ext cx="9455048" cy="2286000"/>
            <a:chOff x="0" y="0"/>
            <a:chExt cx="12606731" cy="3048000"/>
          </a:xfrm>
        </p:grpSpPr>
        <p:sp>
          <p:nvSpPr>
            <p:cNvPr id="10" name="Freeform 10"/>
            <p:cNvSpPr/>
            <p:nvPr/>
          </p:nvSpPr>
          <p:spPr>
            <a:xfrm>
              <a:off x="6350" y="6350"/>
              <a:ext cx="12594082" cy="3035300"/>
            </a:xfrm>
            <a:custGeom>
              <a:avLst/>
              <a:gdLst/>
              <a:ahLst/>
              <a:cxnLst/>
              <a:rect l="l" t="t" r="r" b="b"/>
              <a:pathLst>
                <a:path w="12594082" h="3035300">
                  <a:moveTo>
                    <a:pt x="0" y="340233"/>
                  </a:moveTo>
                  <a:cubicBezTo>
                    <a:pt x="0" y="152400"/>
                    <a:pt x="152781" y="0"/>
                    <a:pt x="341376" y="0"/>
                  </a:cubicBezTo>
                  <a:lnTo>
                    <a:pt x="12252706" y="0"/>
                  </a:lnTo>
                  <a:cubicBezTo>
                    <a:pt x="12441174" y="0"/>
                    <a:pt x="12594082" y="152400"/>
                    <a:pt x="12594082" y="340233"/>
                  </a:cubicBezTo>
                  <a:lnTo>
                    <a:pt x="12594082" y="2695067"/>
                  </a:lnTo>
                  <a:cubicBezTo>
                    <a:pt x="12594082" y="2883027"/>
                    <a:pt x="12441301" y="3035300"/>
                    <a:pt x="12252706" y="3035300"/>
                  </a:cubicBezTo>
                  <a:lnTo>
                    <a:pt x="341376" y="3035300"/>
                  </a:lnTo>
                  <a:cubicBezTo>
                    <a:pt x="152781" y="3035300"/>
                    <a:pt x="0" y="2883027"/>
                    <a:pt x="0" y="2695067"/>
                  </a:cubicBezTo>
                  <a:close/>
                </a:path>
              </a:pathLst>
            </a:custGeom>
            <a:solidFill>
              <a:srgbClr val="CFDBFC"/>
            </a:solidFill>
          </p:spPr>
        </p:sp>
        <p:sp>
          <p:nvSpPr>
            <p:cNvPr id="11" name="Freeform 11"/>
            <p:cNvSpPr/>
            <p:nvPr/>
          </p:nvSpPr>
          <p:spPr>
            <a:xfrm>
              <a:off x="0" y="0"/>
              <a:ext cx="12606782" cy="3048000"/>
            </a:xfrm>
            <a:custGeom>
              <a:avLst/>
              <a:gdLst/>
              <a:ahLst/>
              <a:cxnLst/>
              <a:rect l="l" t="t" r="r" b="b"/>
              <a:pathLst>
                <a:path w="12606782" h="3048000">
                  <a:moveTo>
                    <a:pt x="0" y="346583"/>
                  </a:moveTo>
                  <a:cubicBezTo>
                    <a:pt x="0" y="155194"/>
                    <a:pt x="155702" y="0"/>
                    <a:pt x="347726" y="0"/>
                  </a:cubicBezTo>
                  <a:lnTo>
                    <a:pt x="12259056" y="0"/>
                  </a:lnTo>
                  <a:lnTo>
                    <a:pt x="12259056" y="6350"/>
                  </a:lnTo>
                  <a:lnTo>
                    <a:pt x="12259056" y="0"/>
                  </a:lnTo>
                  <a:cubicBezTo>
                    <a:pt x="12451080" y="0"/>
                    <a:pt x="12606782" y="155194"/>
                    <a:pt x="12606782" y="346583"/>
                  </a:cubicBezTo>
                  <a:lnTo>
                    <a:pt x="12600432" y="346583"/>
                  </a:lnTo>
                  <a:lnTo>
                    <a:pt x="12606782" y="346583"/>
                  </a:lnTo>
                  <a:lnTo>
                    <a:pt x="12606782" y="2701417"/>
                  </a:lnTo>
                  <a:lnTo>
                    <a:pt x="12600432" y="2701417"/>
                  </a:lnTo>
                  <a:lnTo>
                    <a:pt x="12606782" y="2701417"/>
                  </a:lnTo>
                  <a:cubicBezTo>
                    <a:pt x="12606782" y="2892806"/>
                    <a:pt x="12451080" y="3048000"/>
                    <a:pt x="12259056" y="3048000"/>
                  </a:cubicBezTo>
                  <a:lnTo>
                    <a:pt x="12259056" y="3041650"/>
                  </a:lnTo>
                  <a:lnTo>
                    <a:pt x="12259056" y="3048000"/>
                  </a:lnTo>
                  <a:lnTo>
                    <a:pt x="347726" y="3048000"/>
                  </a:lnTo>
                  <a:lnTo>
                    <a:pt x="347726" y="3041650"/>
                  </a:lnTo>
                  <a:lnTo>
                    <a:pt x="347726" y="3048000"/>
                  </a:lnTo>
                  <a:cubicBezTo>
                    <a:pt x="155702" y="3048000"/>
                    <a:pt x="0" y="2892806"/>
                    <a:pt x="0" y="2701417"/>
                  </a:cubicBezTo>
                  <a:lnTo>
                    <a:pt x="0" y="346583"/>
                  </a:lnTo>
                  <a:lnTo>
                    <a:pt x="6350" y="346583"/>
                  </a:lnTo>
                  <a:lnTo>
                    <a:pt x="0" y="346583"/>
                  </a:lnTo>
                  <a:moveTo>
                    <a:pt x="12700" y="346583"/>
                  </a:moveTo>
                  <a:lnTo>
                    <a:pt x="12700" y="2701417"/>
                  </a:lnTo>
                  <a:lnTo>
                    <a:pt x="6350" y="2701417"/>
                  </a:lnTo>
                  <a:lnTo>
                    <a:pt x="12700" y="2701417"/>
                  </a:lnTo>
                  <a:cubicBezTo>
                    <a:pt x="12700" y="2885821"/>
                    <a:pt x="162687" y="3035300"/>
                    <a:pt x="347726" y="3035300"/>
                  </a:cubicBezTo>
                  <a:lnTo>
                    <a:pt x="12259056" y="3035300"/>
                  </a:lnTo>
                  <a:cubicBezTo>
                    <a:pt x="12444095" y="3035300"/>
                    <a:pt x="12594082" y="2885821"/>
                    <a:pt x="12594082" y="2701417"/>
                  </a:cubicBezTo>
                  <a:lnTo>
                    <a:pt x="12594082" y="346583"/>
                  </a:lnTo>
                  <a:cubicBezTo>
                    <a:pt x="12594082" y="162179"/>
                    <a:pt x="12444095" y="12700"/>
                    <a:pt x="12259056" y="12700"/>
                  </a:cubicBezTo>
                  <a:lnTo>
                    <a:pt x="347726" y="12700"/>
                  </a:lnTo>
                  <a:lnTo>
                    <a:pt x="347726" y="6350"/>
                  </a:lnTo>
                  <a:lnTo>
                    <a:pt x="347726" y="12700"/>
                  </a:lnTo>
                  <a:cubicBezTo>
                    <a:pt x="162687" y="12700"/>
                    <a:pt x="12700" y="162179"/>
                    <a:pt x="12700" y="346583"/>
                  </a:cubicBezTo>
                  <a:close/>
                </a:path>
              </a:pathLst>
            </a:custGeom>
            <a:solidFill>
              <a:srgbClr val="B5C1E2"/>
            </a:solidFill>
          </p:spPr>
        </p:sp>
      </p:grpSp>
      <p:sp>
        <p:nvSpPr>
          <p:cNvPr id="12" name="TextBox 12"/>
          <p:cNvSpPr txBox="1"/>
          <p:nvPr/>
        </p:nvSpPr>
        <p:spPr>
          <a:xfrm>
            <a:off x="8143284" y="4925320"/>
            <a:ext cx="3544043" cy="471487"/>
          </a:xfrm>
          <a:prstGeom prst="rect">
            <a:avLst/>
          </a:prstGeom>
        </p:spPr>
        <p:txBody>
          <a:bodyPr lIns="0" tIns="0" rIns="0" bIns="0" rtlCol="0" anchor="t">
            <a:spAutoFit/>
          </a:bodyPr>
          <a:lstStyle/>
          <a:p>
            <a:pPr algn="l">
              <a:lnSpc>
                <a:spcPts val="3399"/>
              </a:lnSpc>
            </a:pPr>
            <a:r>
              <a:rPr lang="en-US" sz="2700">
                <a:solidFill>
                  <a:srgbClr val="000000"/>
                </a:solidFill>
                <a:latin typeface="Arimo"/>
                <a:ea typeface="Arimo"/>
                <a:cs typeface="Arimo"/>
                <a:sym typeface="Arimo"/>
              </a:rPr>
              <a:t>Rehmat Ullah</a:t>
            </a:r>
          </a:p>
        </p:txBody>
      </p:sp>
      <p:sp>
        <p:nvSpPr>
          <p:cNvPr id="13" name="TextBox 13"/>
          <p:cNvSpPr txBox="1"/>
          <p:nvPr/>
        </p:nvSpPr>
        <p:spPr>
          <a:xfrm>
            <a:off x="8143284" y="5481190"/>
            <a:ext cx="8859441" cy="539353"/>
          </a:xfrm>
          <a:prstGeom prst="rect">
            <a:avLst/>
          </a:prstGeom>
        </p:spPr>
        <p:txBody>
          <a:bodyPr lIns="0" tIns="0" rIns="0" bIns="0" rtlCol="0" anchor="t">
            <a:spAutoFit/>
          </a:bodyPr>
          <a:lstStyle/>
          <a:p>
            <a:pPr algn="l">
              <a:lnSpc>
                <a:spcPts val="3500"/>
              </a:lnSpc>
            </a:pPr>
            <a:r>
              <a:rPr lang="en-US" sz="2200">
                <a:solidFill>
                  <a:srgbClr val="000000"/>
                </a:solidFill>
                <a:latin typeface="IBM Plex Sans"/>
                <a:ea typeface="IBM Plex Sans"/>
                <a:cs typeface="IBM Plex Sans"/>
                <a:sym typeface="IBM Plex Sans"/>
              </a:rPr>
              <a:t>BC220404931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50238" y="988371"/>
            <a:ext cx="9445523" cy="1838620"/>
          </a:xfrm>
          <a:prstGeom prst="rect">
            <a:avLst/>
          </a:prstGeom>
        </p:spPr>
        <p:txBody>
          <a:bodyPr lIns="0" tIns="0" rIns="0" bIns="0" rtlCol="0" anchor="t">
            <a:spAutoFit/>
          </a:bodyPr>
          <a:lstStyle/>
          <a:p>
            <a:pPr algn="l">
              <a:lnSpc>
                <a:spcPts val="6900"/>
              </a:lnSpc>
            </a:pPr>
            <a:r>
              <a:rPr lang="en-US" sz="5500">
                <a:solidFill>
                  <a:srgbClr val="3F6FF3"/>
                </a:solidFill>
                <a:latin typeface="Arimo"/>
                <a:ea typeface="Arimo"/>
                <a:cs typeface="Arimo"/>
                <a:sym typeface="Arimo"/>
              </a:rPr>
              <a:t>INTRODUCTION OF PROJECT</a:t>
            </a:r>
          </a:p>
        </p:txBody>
      </p:sp>
      <p:grpSp>
        <p:nvGrpSpPr>
          <p:cNvPr id="9" name="Group 9"/>
          <p:cNvGrpSpPr/>
          <p:nvPr/>
        </p:nvGrpSpPr>
        <p:grpSpPr>
          <a:xfrm>
            <a:off x="7850238" y="3252187"/>
            <a:ext cx="567033" cy="354359"/>
            <a:chOff x="0" y="0"/>
            <a:chExt cx="756044" cy="472478"/>
          </a:xfrm>
        </p:grpSpPr>
        <p:sp>
          <p:nvSpPr>
            <p:cNvPr id="10" name="Freeform 10"/>
            <p:cNvSpPr/>
            <p:nvPr/>
          </p:nvSpPr>
          <p:spPr>
            <a:xfrm>
              <a:off x="0" y="0"/>
              <a:ext cx="756048" cy="472480"/>
            </a:xfrm>
            <a:custGeom>
              <a:avLst/>
              <a:gdLst/>
              <a:ahLst/>
              <a:cxnLst/>
              <a:rect l="l" t="t" r="r" b="b"/>
              <a:pathLst>
                <a:path w="756048" h="472480">
                  <a:moveTo>
                    <a:pt x="0" y="0"/>
                  </a:moveTo>
                  <a:lnTo>
                    <a:pt x="756048" y="0"/>
                  </a:lnTo>
                  <a:lnTo>
                    <a:pt x="756048" y="472480"/>
                  </a:lnTo>
                  <a:lnTo>
                    <a:pt x="0" y="472480"/>
                  </a:lnTo>
                  <a:close/>
                </a:path>
              </a:pathLst>
            </a:custGeom>
            <a:blipFill>
              <a:blip r:embed="rId5">
                <a:alphaModFix amt="0"/>
              </a:blip>
              <a:stretch>
                <a:fillRect l="-30181" r="-30180"/>
              </a:stretch>
            </a:blipFill>
          </p:spPr>
        </p:sp>
        <p:sp>
          <p:nvSpPr>
            <p:cNvPr id="11" name="TextBox 11"/>
            <p:cNvSpPr txBox="1"/>
            <p:nvPr/>
          </p:nvSpPr>
          <p:spPr>
            <a:xfrm>
              <a:off x="0" y="-19050"/>
              <a:ext cx="756044" cy="491528"/>
            </a:xfrm>
            <a:prstGeom prst="rect">
              <a:avLst/>
            </a:prstGeom>
          </p:spPr>
          <p:txBody>
            <a:bodyPr lIns="0" tIns="0" rIns="0" bIns="0" rtlCol="0" anchor="ctr"/>
            <a:lstStyle/>
            <a:p>
              <a:pPr algn="l">
                <a:lnSpc>
                  <a:spcPts val="2640"/>
                </a:lnSpc>
              </a:pPr>
              <a:r>
                <a:rPr lang="en-US" sz="2200">
                  <a:solidFill>
                    <a:srgbClr val="666666"/>
                  </a:solidFill>
                  <a:latin typeface="Arimo"/>
                  <a:ea typeface="Arimo"/>
                  <a:cs typeface="Arimo"/>
                  <a:sym typeface="Arimo"/>
                </a:rPr>
                <a:t>01</a:t>
              </a:r>
            </a:p>
          </p:txBody>
        </p:sp>
      </p:grpSp>
      <p:grpSp>
        <p:nvGrpSpPr>
          <p:cNvPr id="12" name="Group 12"/>
          <p:cNvGrpSpPr/>
          <p:nvPr/>
        </p:nvGrpSpPr>
        <p:grpSpPr>
          <a:xfrm>
            <a:off x="7850238" y="3695995"/>
            <a:ext cx="9445523" cy="38100"/>
            <a:chOff x="0" y="0"/>
            <a:chExt cx="12594031" cy="50800"/>
          </a:xfrm>
        </p:grpSpPr>
        <p:sp>
          <p:nvSpPr>
            <p:cNvPr id="13" name="Freeform 13"/>
            <p:cNvSpPr/>
            <p:nvPr/>
          </p:nvSpPr>
          <p:spPr>
            <a:xfrm>
              <a:off x="0" y="0"/>
              <a:ext cx="12594082" cy="50800"/>
            </a:xfrm>
            <a:custGeom>
              <a:avLst/>
              <a:gdLst/>
              <a:ahLst/>
              <a:cxnLst/>
              <a:rect l="l" t="t" r="r" b="b"/>
              <a:pathLst>
                <a:path w="12594082" h="50800">
                  <a:moveTo>
                    <a:pt x="0" y="0"/>
                  </a:moveTo>
                  <a:lnTo>
                    <a:pt x="12594082" y="0"/>
                  </a:lnTo>
                  <a:lnTo>
                    <a:pt x="12594082" y="50800"/>
                  </a:lnTo>
                  <a:lnTo>
                    <a:pt x="0" y="50800"/>
                  </a:lnTo>
                  <a:close/>
                </a:path>
              </a:pathLst>
            </a:custGeom>
            <a:solidFill>
              <a:srgbClr val="A2B9F9"/>
            </a:solidFill>
          </p:spPr>
        </p:sp>
      </p:grpSp>
      <p:sp>
        <p:nvSpPr>
          <p:cNvPr id="14" name="TextBox 14"/>
          <p:cNvSpPr txBox="1"/>
          <p:nvPr/>
        </p:nvSpPr>
        <p:spPr>
          <a:xfrm>
            <a:off x="7850238" y="3885305"/>
            <a:ext cx="3544043" cy="471487"/>
          </a:xfrm>
          <a:prstGeom prst="rect">
            <a:avLst/>
          </a:prstGeom>
        </p:spPr>
        <p:txBody>
          <a:bodyPr lIns="0" tIns="0" rIns="0" bIns="0" rtlCol="0" anchor="t">
            <a:spAutoFit/>
          </a:bodyPr>
          <a:lstStyle/>
          <a:p>
            <a:pPr algn="l">
              <a:lnSpc>
                <a:spcPts val="3399"/>
              </a:lnSpc>
            </a:pPr>
            <a:r>
              <a:rPr lang="en-US" sz="2700">
                <a:solidFill>
                  <a:srgbClr val="666666"/>
                </a:solidFill>
                <a:latin typeface="Arimo"/>
                <a:ea typeface="Arimo"/>
                <a:cs typeface="Arimo"/>
                <a:sym typeface="Arimo"/>
              </a:rPr>
              <a:t>Project Overview</a:t>
            </a:r>
          </a:p>
        </p:txBody>
      </p:sp>
      <p:sp>
        <p:nvSpPr>
          <p:cNvPr id="15" name="TextBox 15"/>
          <p:cNvSpPr txBox="1"/>
          <p:nvPr/>
        </p:nvSpPr>
        <p:spPr>
          <a:xfrm>
            <a:off x="7850238" y="4441184"/>
            <a:ext cx="9445523" cy="1446609"/>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Development of an automated Face Mask Detection System using deep learning techniques. The system processes images and real-time video streams to detect mask-wearing compliance.</a:t>
            </a:r>
          </a:p>
        </p:txBody>
      </p:sp>
      <p:grpSp>
        <p:nvGrpSpPr>
          <p:cNvPr id="16" name="Group 16"/>
          <p:cNvGrpSpPr/>
          <p:nvPr/>
        </p:nvGrpSpPr>
        <p:grpSpPr>
          <a:xfrm>
            <a:off x="7850238" y="6383836"/>
            <a:ext cx="567033" cy="354359"/>
            <a:chOff x="0" y="0"/>
            <a:chExt cx="756044" cy="472478"/>
          </a:xfrm>
        </p:grpSpPr>
        <p:sp>
          <p:nvSpPr>
            <p:cNvPr id="17" name="Freeform 17"/>
            <p:cNvSpPr/>
            <p:nvPr/>
          </p:nvSpPr>
          <p:spPr>
            <a:xfrm>
              <a:off x="0" y="0"/>
              <a:ext cx="756048" cy="472480"/>
            </a:xfrm>
            <a:custGeom>
              <a:avLst/>
              <a:gdLst/>
              <a:ahLst/>
              <a:cxnLst/>
              <a:rect l="l" t="t" r="r" b="b"/>
              <a:pathLst>
                <a:path w="756048" h="472480">
                  <a:moveTo>
                    <a:pt x="0" y="0"/>
                  </a:moveTo>
                  <a:lnTo>
                    <a:pt x="756048" y="0"/>
                  </a:lnTo>
                  <a:lnTo>
                    <a:pt x="756048" y="472480"/>
                  </a:lnTo>
                  <a:lnTo>
                    <a:pt x="0" y="472480"/>
                  </a:lnTo>
                  <a:close/>
                </a:path>
              </a:pathLst>
            </a:custGeom>
            <a:blipFill>
              <a:blip r:embed="rId5">
                <a:alphaModFix amt="0"/>
              </a:blip>
              <a:stretch>
                <a:fillRect l="-30181" r="-30180"/>
              </a:stretch>
            </a:blipFill>
          </p:spPr>
        </p:sp>
        <p:sp>
          <p:nvSpPr>
            <p:cNvPr id="18" name="TextBox 18"/>
            <p:cNvSpPr txBox="1"/>
            <p:nvPr/>
          </p:nvSpPr>
          <p:spPr>
            <a:xfrm>
              <a:off x="0" y="-19050"/>
              <a:ext cx="756044" cy="491528"/>
            </a:xfrm>
            <a:prstGeom prst="rect">
              <a:avLst/>
            </a:prstGeom>
          </p:spPr>
          <p:txBody>
            <a:bodyPr lIns="0" tIns="0" rIns="0" bIns="0" rtlCol="0" anchor="ctr"/>
            <a:lstStyle/>
            <a:p>
              <a:pPr algn="l">
                <a:lnSpc>
                  <a:spcPts val="2640"/>
                </a:lnSpc>
              </a:pPr>
              <a:r>
                <a:rPr lang="en-US" sz="2200">
                  <a:solidFill>
                    <a:srgbClr val="666666"/>
                  </a:solidFill>
                  <a:latin typeface="Arimo"/>
                  <a:ea typeface="Arimo"/>
                  <a:cs typeface="Arimo"/>
                  <a:sym typeface="Arimo"/>
                </a:rPr>
                <a:t>02</a:t>
              </a:r>
            </a:p>
          </p:txBody>
        </p:sp>
      </p:grpSp>
      <p:grpSp>
        <p:nvGrpSpPr>
          <p:cNvPr id="19" name="Group 19"/>
          <p:cNvGrpSpPr/>
          <p:nvPr/>
        </p:nvGrpSpPr>
        <p:grpSpPr>
          <a:xfrm>
            <a:off x="7850238" y="6827644"/>
            <a:ext cx="9445523" cy="38100"/>
            <a:chOff x="0" y="0"/>
            <a:chExt cx="12594031" cy="50800"/>
          </a:xfrm>
        </p:grpSpPr>
        <p:sp>
          <p:nvSpPr>
            <p:cNvPr id="20" name="Freeform 20"/>
            <p:cNvSpPr/>
            <p:nvPr/>
          </p:nvSpPr>
          <p:spPr>
            <a:xfrm>
              <a:off x="0" y="0"/>
              <a:ext cx="12594082" cy="50800"/>
            </a:xfrm>
            <a:custGeom>
              <a:avLst/>
              <a:gdLst/>
              <a:ahLst/>
              <a:cxnLst/>
              <a:rect l="l" t="t" r="r" b="b"/>
              <a:pathLst>
                <a:path w="12594082" h="50800">
                  <a:moveTo>
                    <a:pt x="0" y="0"/>
                  </a:moveTo>
                  <a:lnTo>
                    <a:pt x="12594082" y="0"/>
                  </a:lnTo>
                  <a:lnTo>
                    <a:pt x="12594082" y="50800"/>
                  </a:lnTo>
                  <a:lnTo>
                    <a:pt x="0" y="50800"/>
                  </a:lnTo>
                  <a:close/>
                </a:path>
              </a:pathLst>
            </a:custGeom>
            <a:solidFill>
              <a:srgbClr val="A2B9F9"/>
            </a:solidFill>
          </p:spPr>
        </p:sp>
      </p:grpSp>
      <p:sp>
        <p:nvSpPr>
          <p:cNvPr id="21" name="TextBox 21"/>
          <p:cNvSpPr txBox="1"/>
          <p:nvPr/>
        </p:nvSpPr>
        <p:spPr>
          <a:xfrm>
            <a:off x="7850238" y="7016953"/>
            <a:ext cx="3544043" cy="471487"/>
          </a:xfrm>
          <a:prstGeom prst="rect">
            <a:avLst/>
          </a:prstGeom>
        </p:spPr>
        <p:txBody>
          <a:bodyPr lIns="0" tIns="0" rIns="0" bIns="0" rtlCol="0" anchor="t">
            <a:spAutoFit/>
          </a:bodyPr>
          <a:lstStyle/>
          <a:p>
            <a:pPr algn="l">
              <a:lnSpc>
                <a:spcPts val="3399"/>
              </a:lnSpc>
            </a:pPr>
            <a:r>
              <a:rPr lang="en-US" sz="2700">
                <a:solidFill>
                  <a:srgbClr val="666666"/>
                </a:solidFill>
                <a:latin typeface="Arimo"/>
                <a:ea typeface="Arimo"/>
                <a:cs typeface="Arimo"/>
                <a:sym typeface="Arimo"/>
              </a:rPr>
              <a:t>Objective</a:t>
            </a:r>
          </a:p>
        </p:txBody>
      </p:sp>
      <p:sp>
        <p:nvSpPr>
          <p:cNvPr id="22" name="TextBox 22"/>
          <p:cNvSpPr txBox="1"/>
          <p:nvPr/>
        </p:nvSpPr>
        <p:spPr>
          <a:xfrm>
            <a:off x="7850238" y="7572823"/>
            <a:ext cx="9445523" cy="1446609"/>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Build a reliable deep learning model for accurate mask and no-mask classification. Process images and live webcam feeds while reducing manual monitoring efforts in public spaces.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50238" y="988371"/>
            <a:ext cx="9445523" cy="1838620"/>
          </a:xfrm>
          <a:prstGeom prst="rect">
            <a:avLst/>
          </a:prstGeom>
        </p:spPr>
        <p:txBody>
          <a:bodyPr lIns="0" tIns="0" rIns="0" bIns="0" rtlCol="0" anchor="t">
            <a:spAutoFit/>
          </a:bodyPr>
          <a:lstStyle/>
          <a:p>
            <a:pPr algn="l">
              <a:lnSpc>
                <a:spcPts val="6900"/>
              </a:lnSpc>
            </a:pPr>
            <a:r>
              <a:rPr lang="en-US" sz="5500">
                <a:solidFill>
                  <a:srgbClr val="3F6FF3"/>
                </a:solidFill>
                <a:latin typeface="Arimo"/>
                <a:ea typeface="Arimo"/>
                <a:cs typeface="Arimo"/>
                <a:sym typeface="Arimo"/>
              </a:rPr>
              <a:t>INTRODUCTION OF PROJECT</a:t>
            </a:r>
          </a:p>
        </p:txBody>
      </p:sp>
      <p:grpSp>
        <p:nvGrpSpPr>
          <p:cNvPr id="9" name="Group 9"/>
          <p:cNvGrpSpPr/>
          <p:nvPr/>
        </p:nvGrpSpPr>
        <p:grpSpPr>
          <a:xfrm>
            <a:off x="7825854" y="3252187"/>
            <a:ext cx="567033" cy="354359"/>
            <a:chOff x="0" y="0"/>
            <a:chExt cx="756044" cy="472478"/>
          </a:xfrm>
        </p:grpSpPr>
        <p:sp>
          <p:nvSpPr>
            <p:cNvPr id="10" name="Freeform 10"/>
            <p:cNvSpPr/>
            <p:nvPr/>
          </p:nvSpPr>
          <p:spPr>
            <a:xfrm>
              <a:off x="0" y="0"/>
              <a:ext cx="756048" cy="472480"/>
            </a:xfrm>
            <a:custGeom>
              <a:avLst/>
              <a:gdLst/>
              <a:ahLst/>
              <a:cxnLst/>
              <a:rect l="l" t="t" r="r" b="b"/>
              <a:pathLst>
                <a:path w="756048" h="472480">
                  <a:moveTo>
                    <a:pt x="0" y="0"/>
                  </a:moveTo>
                  <a:lnTo>
                    <a:pt x="756048" y="0"/>
                  </a:lnTo>
                  <a:lnTo>
                    <a:pt x="756048" y="472480"/>
                  </a:lnTo>
                  <a:lnTo>
                    <a:pt x="0" y="472480"/>
                  </a:lnTo>
                  <a:close/>
                </a:path>
              </a:pathLst>
            </a:custGeom>
            <a:blipFill>
              <a:blip r:embed="rId5">
                <a:alphaModFix amt="0"/>
              </a:blip>
              <a:stretch>
                <a:fillRect l="-30181" r="-30180"/>
              </a:stretch>
            </a:blipFill>
          </p:spPr>
        </p:sp>
        <p:sp>
          <p:nvSpPr>
            <p:cNvPr id="11" name="TextBox 11"/>
            <p:cNvSpPr txBox="1"/>
            <p:nvPr/>
          </p:nvSpPr>
          <p:spPr>
            <a:xfrm>
              <a:off x="0" y="-19050"/>
              <a:ext cx="756044" cy="491528"/>
            </a:xfrm>
            <a:prstGeom prst="rect">
              <a:avLst/>
            </a:prstGeom>
          </p:spPr>
          <p:txBody>
            <a:bodyPr lIns="0" tIns="0" rIns="0" bIns="0" rtlCol="0" anchor="ctr"/>
            <a:lstStyle/>
            <a:p>
              <a:pPr algn="l">
                <a:lnSpc>
                  <a:spcPts val="2640"/>
                </a:lnSpc>
              </a:pPr>
              <a:r>
                <a:rPr lang="en-US" sz="2200">
                  <a:solidFill>
                    <a:srgbClr val="666666"/>
                  </a:solidFill>
                  <a:latin typeface="Arimo"/>
                  <a:ea typeface="Arimo"/>
                  <a:cs typeface="Arimo"/>
                  <a:sym typeface="Arimo"/>
                </a:rPr>
                <a:t>03</a:t>
              </a:r>
            </a:p>
          </p:txBody>
        </p:sp>
      </p:grpSp>
      <p:grpSp>
        <p:nvGrpSpPr>
          <p:cNvPr id="12" name="Group 12"/>
          <p:cNvGrpSpPr/>
          <p:nvPr/>
        </p:nvGrpSpPr>
        <p:grpSpPr>
          <a:xfrm>
            <a:off x="7850238" y="3695995"/>
            <a:ext cx="9445523" cy="38100"/>
            <a:chOff x="0" y="0"/>
            <a:chExt cx="12594031" cy="50800"/>
          </a:xfrm>
        </p:grpSpPr>
        <p:sp>
          <p:nvSpPr>
            <p:cNvPr id="13" name="Freeform 13"/>
            <p:cNvSpPr/>
            <p:nvPr/>
          </p:nvSpPr>
          <p:spPr>
            <a:xfrm>
              <a:off x="0" y="0"/>
              <a:ext cx="12594082" cy="50800"/>
            </a:xfrm>
            <a:custGeom>
              <a:avLst/>
              <a:gdLst/>
              <a:ahLst/>
              <a:cxnLst/>
              <a:rect l="l" t="t" r="r" b="b"/>
              <a:pathLst>
                <a:path w="12594082" h="50800">
                  <a:moveTo>
                    <a:pt x="0" y="0"/>
                  </a:moveTo>
                  <a:lnTo>
                    <a:pt x="12594082" y="0"/>
                  </a:lnTo>
                  <a:lnTo>
                    <a:pt x="12594082" y="50800"/>
                  </a:lnTo>
                  <a:lnTo>
                    <a:pt x="0" y="50800"/>
                  </a:lnTo>
                  <a:close/>
                </a:path>
              </a:pathLst>
            </a:custGeom>
            <a:solidFill>
              <a:srgbClr val="A2B9F9"/>
            </a:solidFill>
          </p:spPr>
        </p:sp>
      </p:grpSp>
      <p:sp>
        <p:nvSpPr>
          <p:cNvPr id="14" name="TextBox 14"/>
          <p:cNvSpPr txBox="1"/>
          <p:nvPr/>
        </p:nvSpPr>
        <p:spPr>
          <a:xfrm>
            <a:off x="7850238" y="3885305"/>
            <a:ext cx="3544043" cy="471487"/>
          </a:xfrm>
          <a:prstGeom prst="rect">
            <a:avLst/>
          </a:prstGeom>
        </p:spPr>
        <p:txBody>
          <a:bodyPr lIns="0" tIns="0" rIns="0" bIns="0" rtlCol="0" anchor="t">
            <a:spAutoFit/>
          </a:bodyPr>
          <a:lstStyle/>
          <a:p>
            <a:pPr algn="l">
              <a:lnSpc>
                <a:spcPts val="3399"/>
              </a:lnSpc>
            </a:pPr>
            <a:r>
              <a:rPr lang="en-US" sz="2700">
                <a:solidFill>
                  <a:srgbClr val="666666"/>
                </a:solidFill>
                <a:latin typeface="Arimo"/>
                <a:ea typeface="Arimo"/>
                <a:cs typeface="Arimo"/>
                <a:sym typeface="Arimo"/>
              </a:rPr>
              <a:t>Technology Used</a:t>
            </a:r>
          </a:p>
        </p:txBody>
      </p:sp>
      <p:sp>
        <p:nvSpPr>
          <p:cNvPr id="15" name="TextBox 15"/>
          <p:cNvSpPr txBox="1"/>
          <p:nvPr/>
        </p:nvSpPr>
        <p:spPr>
          <a:xfrm>
            <a:off x="7850238" y="4441184"/>
            <a:ext cx="9445523" cy="1446609"/>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The system is developed using a Convolutional Neural Network (CNN) model. </a:t>
            </a:r>
          </a:p>
          <a:p>
            <a:pPr algn="l">
              <a:lnSpc>
                <a:spcPts val="3500"/>
              </a:lnSpc>
            </a:pPr>
            <a:r>
              <a:rPr lang="en-US" sz="2200">
                <a:solidFill>
                  <a:srgbClr val="666666"/>
                </a:solidFill>
                <a:latin typeface="IBM Plex Sans"/>
                <a:ea typeface="IBM Plex Sans"/>
                <a:cs typeface="IBM Plex Sans"/>
                <a:sym typeface="IBM Plex Sans"/>
              </a:rPr>
              <a:t>A dataset of masked and unmasked faces is used for training purposes. </a:t>
            </a:r>
          </a:p>
          <a:p>
            <a:pPr algn="l">
              <a:lnSpc>
                <a:spcPts val="3500"/>
              </a:lnSpc>
            </a:pPr>
            <a:r>
              <a:rPr lang="en-US" sz="2200">
                <a:solidFill>
                  <a:srgbClr val="666666"/>
                </a:solidFill>
                <a:latin typeface="IBM Plex Sans"/>
                <a:ea typeface="IBM Plex Sans"/>
                <a:cs typeface="IBM Plex Sans"/>
                <a:sym typeface="IBM Plex Sans"/>
              </a:rPr>
              <a:t>Real-time detection is implemented using computer vision techniques.</a:t>
            </a:r>
          </a:p>
        </p:txBody>
      </p:sp>
      <p:grpSp>
        <p:nvGrpSpPr>
          <p:cNvPr id="16" name="Group 16"/>
          <p:cNvGrpSpPr/>
          <p:nvPr/>
        </p:nvGrpSpPr>
        <p:grpSpPr>
          <a:xfrm>
            <a:off x="7850238" y="6383836"/>
            <a:ext cx="567033" cy="354359"/>
            <a:chOff x="0" y="0"/>
            <a:chExt cx="756044" cy="472478"/>
          </a:xfrm>
        </p:grpSpPr>
        <p:sp>
          <p:nvSpPr>
            <p:cNvPr id="17" name="Freeform 17"/>
            <p:cNvSpPr/>
            <p:nvPr/>
          </p:nvSpPr>
          <p:spPr>
            <a:xfrm>
              <a:off x="0" y="0"/>
              <a:ext cx="756048" cy="472480"/>
            </a:xfrm>
            <a:custGeom>
              <a:avLst/>
              <a:gdLst/>
              <a:ahLst/>
              <a:cxnLst/>
              <a:rect l="l" t="t" r="r" b="b"/>
              <a:pathLst>
                <a:path w="756048" h="472480">
                  <a:moveTo>
                    <a:pt x="0" y="0"/>
                  </a:moveTo>
                  <a:lnTo>
                    <a:pt x="756048" y="0"/>
                  </a:lnTo>
                  <a:lnTo>
                    <a:pt x="756048" y="472480"/>
                  </a:lnTo>
                  <a:lnTo>
                    <a:pt x="0" y="472480"/>
                  </a:lnTo>
                  <a:close/>
                </a:path>
              </a:pathLst>
            </a:custGeom>
            <a:blipFill>
              <a:blip r:embed="rId5">
                <a:alphaModFix amt="0"/>
              </a:blip>
              <a:stretch>
                <a:fillRect l="-30181" r="-30180"/>
              </a:stretch>
            </a:blipFill>
          </p:spPr>
        </p:sp>
        <p:sp>
          <p:nvSpPr>
            <p:cNvPr id="18" name="TextBox 18"/>
            <p:cNvSpPr txBox="1"/>
            <p:nvPr/>
          </p:nvSpPr>
          <p:spPr>
            <a:xfrm>
              <a:off x="0" y="-19050"/>
              <a:ext cx="756044" cy="491528"/>
            </a:xfrm>
            <a:prstGeom prst="rect">
              <a:avLst/>
            </a:prstGeom>
          </p:spPr>
          <p:txBody>
            <a:bodyPr lIns="0" tIns="0" rIns="0" bIns="0" rtlCol="0" anchor="ctr"/>
            <a:lstStyle/>
            <a:p>
              <a:pPr algn="l">
                <a:lnSpc>
                  <a:spcPts val="2640"/>
                </a:lnSpc>
              </a:pPr>
              <a:r>
                <a:rPr lang="en-US" sz="2200">
                  <a:solidFill>
                    <a:srgbClr val="666666"/>
                  </a:solidFill>
                  <a:latin typeface="Arimo"/>
                  <a:ea typeface="Arimo"/>
                  <a:cs typeface="Arimo"/>
                  <a:sym typeface="Arimo"/>
                </a:rPr>
                <a:t>04</a:t>
              </a:r>
            </a:p>
          </p:txBody>
        </p:sp>
      </p:grpSp>
      <p:grpSp>
        <p:nvGrpSpPr>
          <p:cNvPr id="19" name="Group 19"/>
          <p:cNvGrpSpPr/>
          <p:nvPr/>
        </p:nvGrpSpPr>
        <p:grpSpPr>
          <a:xfrm>
            <a:off x="7850238" y="6827644"/>
            <a:ext cx="9445523" cy="38100"/>
            <a:chOff x="0" y="0"/>
            <a:chExt cx="12594031" cy="50800"/>
          </a:xfrm>
        </p:grpSpPr>
        <p:sp>
          <p:nvSpPr>
            <p:cNvPr id="20" name="Freeform 20"/>
            <p:cNvSpPr/>
            <p:nvPr/>
          </p:nvSpPr>
          <p:spPr>
            <a:xfrm>
              <a:off x="0" y="0"/>
              <a:ext cx="12594082" cy="50800"/>
            </a:xfrm>
            <a:custGeom>
              <a:avLst/>
              <a:gdLst/>
              <a:ahLst/>
              <a:cxnLst/>
              <a:rect l="l" t="t" r="r" b="b"/>
              <a:pathLst>
                <a:path w="12594082" h="50800">
                  <a:moveTo>
                    <a:pt x="0" y="0"/>
                  </a:moveTo>
                  <a:lnTo>
                    <a:pt x="12594082" y="0"/>
                  </a:lnTo>
                  <a:lnTo>
                    <a:pt x="12594082" y="50800"/>
                  </a:lnTo>
                  <a:lnTo>
                    <a:pt x="0" y="50800"/>
                  </a:lnTo>
                  <a:close/>
                </a:path>
              </a:pathLst>
            </a:custGeom>
            <a:solidFill>
              <a:srgbClr val="A2B9F9"/>
            </a:solidFill>
          </p:spPr>
        </p:sp>
      </p:grpSp>
      <p:sp>
        <p:nvSpPr>
          <p:cNvPr id="21" name="TextBox 21"/>
          <p:cNvSpPr txBox="1"/>
          <p:nvPr/>
        </p:nvSpPr>
        <p:spPr>
          <a:xfrm>
            <a:off x="7850238" y="7016953"/>
            <a:ext cx="3544043" cy="471487"/>
          </a:xfrm>
          <a:prstGeom prst="rect">
            <a:avLst/>
          </a:prstGeom>
        </p:spPr>
        <p:txBody>
          <a:bodyPr lIns="0" tIns="0" rIns="0" bIns="0" rtlCol="0" anchor="t">
            <a:spAutoFit/>
          </a:bodyPr>
          <a:lstStyle/>
          <a:p>
            <a:pPr algn="l">
              <a:lnSpc>
                <a:spcPts val="3399"/>
              </a:lnSpc>
            </a:pPr>
            <a:r>
              <a:rPr lang="en-US" sz="2700">
                <a:solidFill>
                  <a:srgbClr val="666666"/>
                </a:solidFill>
                <a:latin typeface="Arimo"/>
                <a:ea typeface="Arimo"/>
                <a:cs typeface="Arimo"/>
                <a:sym typeface="Arimo"/>
              </a:rPr>
              <a:t>Working Concept</a:t>
            </a:r>
          </a:p>
        </p:txBody>
      </p:sp>
      <p:sp>
        <p:nvSpPr>
          <p:cNvPr id="22" name="TextBox 22"/>
          <p:cNvSpPr txBox="1"/>
          <p:nvPr/>
        </p:nvSpPr>
        <p:spPr>
          <a:xfrm>
            <a:off x="7850238" y="7572823"/>
            <a:ext cx="9445523" cy="1446609"/>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The system captures input from images or webcam feed. </a:t>
            </a:r>
          </a:p>
          <a:p>
            <a:pPr algn="l">
              <a:lnSpc>
                <a:spcPts val="3500"/>
              </a:lnSpc>
            </a:pPr>
            <a:r>
              <a:rPr lang="en-US" sz="2200">
                <a:solidFill>
                  <a:srgbClr val="666666"/>
                </a:solidFill>
                <a:latin typeface="IBM Plex Sans"/>
                <a:ea typeface="IBM Plex Sans"/>
                <a:cs typeface="IBM Plex Sans"/>
                <a:sym typeface="IBM Plex Sans"/>
              </a:rPr>
              <a:t>Faces are detected and passed to the trained deep learning model. </a:t>
            </a:r>
          </a:p>
          <a:p>
            <a:pPr algn="l">
              <a:lnSpc>
                <a:spcPts val="3500"/>
              </a:lnSpc>
            </a:pPr>
            <a:r>
              <a:rPr lang="en-US" sz="2200">
                <a:solidFill>
                  <a:srgbClr val="666666"/>
                </a:solidFill>
                <a:latin typeface="IBM Plex Sans"/>
                <a:ea typeface="IBM Plex Sans"/>
                <a:cs typeface="IBM Plex Sans"/>
                <a:sym typeface="IBM Plex Sans"/>
              </a:rPr>
              <a:t>The model classifies each face as “Mask” or “No Mask” and displays the result instantly.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50238" y="988371"/>
            <a:ext cx="9445523" cy="1838620"/>
          </a:xfrm>
          <a:prstGeom prst="rect">
            <a:avLst/>
          </a:prstGeom>
        </p:spPr>
        <p:txBody>
          <a:bodyPr lIns="0" tIns="0" rIns="0" bIns="0" rtlCol="0" anchor="t">
            <a:spAutoFit/>
          </a:bodyPr>
          <a:lstStyle/>
          <a:p>
            <a:pPr algn="l">
              <a:lnSpc>
                <a:spcPts val="6900"/>
              </a:lnSpc>
            </a:pPr>
            <a:r>
              <a:rPr lang="en-US" sz="5500">
                <a:solidFill>
                  <a:srgbClr val="3F6FF3"/>
                </a:solidFill>
                <a:latin typeface="Arimo"/>
                <a:ea typeface="Arimo"/>
                <a:cs typeface="Arimo"/>
                <a:sym typeface="Arimo"/>
              </a:rPr>
              <a:t>INTRODUCTION OF PROJECT</a:t>
            </a:r>
          </a:p>
        </p:txBody>
      </p:sp>
      <p:grpSp>
        <p:nvGrpSpPr>
          <p:cNvPr id="9" name="Group 9"/>
          <p:cNvGrpSpPr/>
          <p:nvPr/>
        </p:nvGrpSpPr>
        <p:grpSpPr>
          <a:xfrm>
            <a:off x="7825854" y="3252187"/>
            <a:ext cx="567033" cy="354359"/>
            <a:chOff x="0" y="0"/>
            <a:chExt cx="756044" cy="472478"/>
          </a:xfrm>
        </p:grpSpPr>
        <p:sp>
          <p:nvSpPr>
            <p:cNvPr id="10" name="Freeform 10"/>
            <p:cNvSpPr/>
            <p:nvPr/>
          </p:nvSpPr>
          <p:spPr>
            <a:xfrm>
              <a:off x="0" y="0"/>
              <a:ext cx="756048" cy="472480"/>
            </a:xfrm>
            <a:custGeom>
              <a:avLst/>
              <a:gdLst/>
              <a:ahLst/>
              <a:cxnLst/>
              <a:rect l="l" t="t" r="r" b="b"/>
              <a:pathLst>
                <a:path w="756048" h="472480">
                  <a:moveTo>
                    <a:pt x="0" y="0"/>
                  </a:moveTo>
                  <a:lnTo>
                    <a:pt x="756048" y="0"/>
                  </a:lnTo>
                  <a:lnTo>
                    <a:pt x="756048" y="472480"/>
                  </a:lnTo>
                  <a:lnTo>
                    <a:pt x="0" y="472480"/>
                  </a:lnTo>
                  <a:close/>
                </a:path>
              </a:pathLst>
            </a:custGeom>
            <a:blipFill>
              <a:blip r:embed="rId5">
                <a:alphaModFix amt="0"/>
              </a:blip>
              <a:stretch>
                <a:fillRect l="-30181" r="-30180"/>
              </a:stretch>
            </a:blipFill>
          </p:spPr>
        </p:sp>
        <p:sp>
          <p:nvSpPr>
            <p:cNvPr id="11" name="TextBox 11"/>
            <p:cNvSpPr txBox="1"/>
            <p:nvPr/>
          </p:nvSpPr>
          <p:spPr>
            <a:xfrm>
              <a:off x="0" y="-19050"/>
              <a:ext cx="756044" cy="491528"/>
            </a:xfrm>
            <a:prstGeom prst="rect">
              <a:avLst/>
            </a:prstGeom>
          </p:spPr>
          <p:txBody>
            <a:bodyPr lIns="0" tIns="0" rIns="0" bIns="0" rtlCol="0" anchor="ctr"/>
            <a:lstStyle/>
            <a:p>
              <a:pPr algn="l">
                <a:lnSpc>
                  <a:spcPts val="2640"/>
                </a:lnSpc>
              </a:pPr>
              <a:r>
                <a:rPr lang="en-US" sz="2200">
                  <a:solidFill>
                    <a:srgbClr val="666666"/>
                  </a:solidFill>
                  <a:latin typeface="Arimo"/>
                  <a:ea typeface="Arimo"/>
                  <a:cs typeface="Arimo"/>
                  <a:sym typeface="Arimo"/>
                </a:rPr>
                <a:t>05</a:t>
              </a:r>
            </a:p>
          </p:txBody>
        </p:sp>
      </p:grpSp>
      <p:grpSp>
        <p:nvGrpSpPr>
          <p:cNvPr id="12" name="Group 12"/>
          <p:cNvGrpSpPr/>
          <p:nvPr/>
        </p:nvGrpSpPr>
        <p:grpSpPr>
          <a:xfrm>
            <a:off x="7850238" y="3695995"/>
            <a:ext cx="9445523" cy="38100"/>
            <a:chOff x="0" y="0"/>
            <a:chExt cx="12594031" cy="50800"/>
          </a:xfrm>
        </p:grpSpPr>
        <p:sp>
          <p:nvSpPr>
            <p:cNvPr id="13" name="Freeform 13"/>
            <p:cNvSpPr/>
            <p:nvPr/>
          </p:nvSpPr>
          <p:spPr>
            <a:xfrm>
              <a:off x="0" y="0"/>
              <a:ext cx="12594082" cy="50800"/>
            </a:xfrm>
            <a:custGeom>
              <a:avLst/>
              <a:gdLst/>
              <a:ahLst/>
              <a:cxnLst/>
              <a:rect l="l" t="t" r="r" b="b"/>
              <a:pathLst>
                <a:path w="12594082" h="50800">
                  <a:moveTo>
                    <a:pt x="0" y="0"/>
                  </a:moveTo>
                  <a:lnTo>
                    <a:pt x="12594082" y="0"/>
                  </a:lnTo>
                  <a:lnTo>
                    <a:pt x="12594082" y="50800"/>
                  </a:lnTo>
                  <a:lnTo>
                    <a:pt x="0" y="50800"/>
                  </a:lnTo>
                  <a:close/>
                </a:path>
              </a:pathLst>
            </a:custGeom>
            <a:solidFill>
              <a:srgbClr val="A2B9F9"/>
            </a:solidFill>
          </p:spPr>
        </p:sp>
      </p:grpSp>
      <p:sp>
        <p:nvSpPr>
          <p:cNvPr id="14" name="TextBox 14"/>
          <p:cNvSpPr txBox="1"/>
          <p:nvPr/>
        </p:nvSpPr>
        <p:spPr>
          <a:xfrm>
            <a:off x="7850238" y="3885305"/>
            <a:ext cx="3544043" cy="471487"/>
          </a:xfrm>
          <a:prstGeom prst="rect">
            <a:avLst/>
          </a:prstGeom>
        </p:spPr>
        <p:txBody>
          <a:bodyPr lIns="0" tIns="0" rIns="0" bIns="0" rtlCol="0" anchor="t">
            <a:spAutoFit/>
          </a:bodyPr>
          <a:lstStyle/>
          <a:p>
            <a:pPr algn="l">
              <a:lnSpc>
                <a:spcPts val="3399"/>
              </a:lnSpc>
            </a:pPr>
            <a:r>
              <a:rPr lang="en-US" sz="2700">
                <a:solidFill>
                  <a:srgbClr val="666666"/>
                </a:solidFill>
                <a:latin typeface="Arimo"/>
                <a:ea typeface="Arimo"/>
                <a:cs typeface="Arimo"/>
                <a:sym typeface="Arimo"/>
              </a:rPr>
              <a:t>Applications</a:t>
            </a:r>
          </a:p>
        </p:txBody>
      </p:sp>
      <p:sp>
        <p:nvSpPr>
          <p:cNvPr id="15" name="TextBox 15"/>
          <p:cNvSpPr txBox="1"/>
          <p:nvPr/>
        </p:nvSpPr>
        <p:spPr>
          <a:xfrm>
            <a:off x="7850238" y="4441184"/>
            <a:ext cx="9445523" cy="1446609"/>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Public safety and surveillance systems </a:t>
            </a:r>
          </a:p>
          <a:p>
            <a:pPr algn="l">
              <a:lnSpc>
                <a:spcPts val="3500"/>
              </a:lnSpc>
            </a:pPr>
            <a:r>
              <a:rPr lang="en-US" sz="2200">
                <a:solidFill>
                  <a:srgbClr val="666666"/>
                </a:solidFill>
                <a:latin typeface="IBM Plex Sans"/>
                <a:ea typeface="IBM Plex Sans"/>
                <a:cs typeface="IBM Plex Sans"/>
                <a:sym typeface="IBM Plex Sans"/>
              </a:rPr>
              <a:t>Hospital and clinic entry monitoring </a:t>
            </a:r>
          </a:p>
          <a:p>
            <a:pPr algn="l">
              <a:lnSpc>
                <a:spcPts val="3500"/>
              </a:lnSpc>
            </a:pPr>
            <a:r>
              <a:rPr lang="en-US" sz="2200">
                <a:solidFill>
                  <a:srgbClr val="666666"/>
                </a:solidFill>
                <a:latin typeface="IBM Plex Sans"/>
                <a:ea typeface="IBM Plex Sans"/>
                <a:cs typeface="IBM Plex Sans"/>
                <a:sym typeface="IBM Plex Sans"/>
              </a:rPr>
              <a:t>Smart attendance and security systems </a:t>
            </a:r>
          </a:p>
          <a:p>
            <a:pPr algn="l">
              <a:lnSpc>
                <a:spcPts val="3500"/>
              </a:lnSpc>
            </a:pPr>
            <a:r>
              <a:rPr lang="en-US" sz="2200">
                <a:solidFill>
                  <a:srgbClr val="666666"/>
                </a:solidFill>
                <a:latin typeface="IBM Plex Sans"/>
                <a:ea typeface="IBM Plex Sans"/>
                <a:cs typeface="IBM Plex Sans"/>
                <a:sym typeface="IBM Plex Sans"/>
              </a:rPr>
              <a:t>Automated monitoring in crowded places</a:t>
            </a:r>
          </a:p>
        </p:txBody>
      </p:sp>
      <p:grpSp>
        <p:nvGrpSpPr>
          <p:cNvPr id="16" name="Group 16"/>
          <p:cNvGrpSpPr/>
          <p:nvPr/>
        </p:nvGrpSpPr>
        <p:grpSpPr>
          <a:xfrm>
            <a:off x="7850238" y="6827644"/>
            <a:ext cx="9445523" cy="38100"/>
            <a:chOff x="0" y="0"/>
            <a:chExt cx="12594031" cy="50800"/>
          </a:xfrm>
        </p:grpSpPr>
        <p:sp>
          <p:nvSpPr>
            <p:cNvPr id="17" name="Freeform 17"/>
            <p:cNvSpPr/>
            <p:nvPr/>
          </p:nvSpPr>
          <p:spPr>
            <a:xfrm>
              <a:off x="0" y="0"/>
              <a:ext cx="12594082" cy="50800"/>
            </a:xfrm>
            <a:custGeom>
              <a:avLst/>
              <a:gdLst/>
              <a:ahLst/>
              <a:cxnLst/>
              <a:rect l="l" t="t" r="r" b="b"/>
              <a:pathLst>
                <a:path w="12594082" h="50800">
                  <a:moveTo>
                    <a:pt x="0" y="0"/>
                  </a:moveTo>
                  <a:lnTo>
                    <a:pt x="12594082" y="0"/>
                  </a:lnTo>
                  <a:lnTo>
                    <a:pt x="12594082" y="50800"/>
                  </a:lnTo>
                  <a:lnTo>
                    <a:pt x="0" y="50800"/>
                  </a:lnTo>
                  <a:close/>
                </a:path>
              </a:pathLst>
            </a:custGeom>
            <a:solidFill>
              <a:srgbClr val="A2B9F9"/>
            </a:solidFill>
          </p:spPr>
        </p:sp>
      </p:grpSp>
      <p:sp>
        <p:nvSpPr>
          <p:cNvPr id="18" name="Freeform 18" descr="preencoded.png"/>
          <p:cNvSpPr/>
          <p:nvPr/>
        </p:nvSpPr>
        <p:spPr>
          <a:xfrm>
            <a:off x="7825854" y="7891643"/>
            <a:ext cx="708717" cy="708717"/>
          </a:xfrm>
          <a:custGeom>
            <a:avLst/>
            <a:gdLst/>
            <a:ahLst/>
            <a:cxnLst/>
            <a:rect l="l" t="t" r="r" b="b"/>
            <a:pathLst>
              <a:path w="708717" h="708717">
                <a:moveTo>
                  <a:pt x="0" y="0"/>
                </a:moveTo>
                <a:lnTo>
                  <a:pt x="708717" y="0"/>
                </a:lnTo>
                <a:lnTo>
                  <a:pt x="708717" y="708718"/>
                </a:lnTo>
                <a:lnTo>
                  <a:pt x="0" y="708718"/>
                </a:lnTo>
                <a:lnTo>
                  <a:pt x="0" y="0"/>
                </a:lnTo>
                <a:close/>
              </a:path>
            </a:pathLst>
          </a:custGeom>
          <a:blipFill>
            <a:blip>
              <a:extLst>
                <a:ext uri="{96DAC541-7B7A-43D3-8B79-37D633B846F1}">
                  <asvg:svgBlip xmlns:asvg="http://schemas.microsoft.com/office/drawing/2016/SVG/main" r:embed="rId6"/>
                </a:ext>
              </a:extLst>
            </a:blip>
            <a:stretch>
              <a:fillRect l="-11333" r="-11333"/>
            </a:stretch>
          </a:blipFill>
        </p:spPr>
      </p:sp>
      <p:sp>
        <p:nvSpPr>
          <p:cNvPr id="19" name="TextBox 19"/>
          <p:cNvSpPr txBox="1"/>
          <p:nvPr/>
        </p:nvSpPr>
        <p:spPr>
          <a:xfrm>
            <a:off x="8888930" y="7863068"/>
            <a:ext cx="3561607" cy="471487"/>
          </a:xfrm>
          <a:prstGeom prst="rect">
            <a:avLst/>
          </a:prstGeom>
        </p:spPr>
        <p:txBody>
          <a:bodyPr lIns="0" tIns="0" rIns="0" bIns="0" rtlCol="0" anchor="t">
            <a:spAutoFit/>
          </a:bodyPr>
          <a:lstStyle/>
          <a:p>
            <a:pPr algn="l">
              <a:lnSpc>
                <a:spcPts val="3399"/>
              </a:lnSpc>
            </a:pPr>
            <a:r>
              <a:rPr lang="en-US" sz="2700">
                <a:solidFill>
                  <a:srgbClr val="666666"/>
                </a:solidFill>
                <a:latin typeface="Arimo"/>
                <a:ea typeface="Arimo"/>
                <a:cs typeface="Arimo"/>
                <a:sym typeface="Arimo"/>
              </a:rPr>
              <a:t>Healthcare Monitoring</a:t>
            </a:r>
          </a:p>
        </p:txBody>
      </p:sp>
      <p:sp>
        <p:nvSpPr>
          <p:cNvPr id="20" name="TextBox 20"/>
          <p:cNvSpPr txBox="1"/>
          <p:nvPr/>
        </p:nvSpPr>
        <p:spPr>
          <a:xfrm>
            <a:off x="8888930" y="8418947"/>
            <a:ext cx="4135193" cy="992981"/>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Hospital and clinic entry verification systems</a:t>
            </a:r>
          </a:p>
        </p:txBody>
      </p:sp>
      <p:sp>
        <p:nvSpPr>
          <p:cNvPr id="21" name="Freeform 21" descr="preencoded.png"/>
          <p:cNvSpPr/>
          <p:nvPr/>
        </p:nvSpPr>
        <p:spPr>
          <a:xfrm>
            <a:off x="12688643" y="7886252"/>
            <a:ext cx="708717" cy="708717"/>
          </a:xfrm>
          <a:custGeom>
            <a:avLst/>
            <a:gdLst/>
            <a:ahLst/>
            <a:cxnLst/>
            <a:rect l="l" t="t" r="r" b="b"/>
            <a:pathLst>
              <a:path w="708717" h="708717">
                <a:moveTo>
                  <a:pt x="0" y="0"/>
                </a:moveTo>
                <a:lnTo>
                  <a:pt x="708717" y="0"/>
                </a:lnTo>
                <a:lnTo>
                  <a:pt x="708717" y="708717"/>
                </a:lnTo>
                <a:lnTo>
                  <a:pt x="0" y="708717"/>
                </a:lnTo>
                <a:lnTo>
                  <a:pt x="0" y="0"/>
                </a:lnTo>
                <a:close/>
              </a:path>
            </a:pathLst>
          </a:custGeom>
          <a:blipFill>
            <a:blip>
              <a:extLst>
                <a:ext uri="{96DAC541-7B7A-43D3-8B79-37D633B846F1}">
                  <asvg:svgBlip xmlns:asvg="http://schemas.microsoft.com/office/drawing/2016/SVG/main" r:embed="rId7"/>
                </a:ext>
              </a:extLst>
            </a:blip>
            <a:stretch>
              <a:fillRect t="-666" b="-666"/>
            </a:stretch>
          </a:blipFill>
        </p:spPr>
      </p:sp>
      <p:sp>
        <p:nvSpPr>
          <p:cNvPr id="22" name="TextBox 22"/>
          <p:cNvSpPr txBox="1"/>
          <p:nvPr/>
        </p:nvSpPr>
        <p:spPr>
          <a:xfrm>
            <a:off x="13751719" y="7857677"/>
            <a:ext cx="3544043" cy="471487"/>
          </a:xfrm>
          <a:prstGeom prst="rect">
            <a:avLst/>
          </a:prstGeom>
        </p:spPr>
        <p:txBody>
          <a:bodyPr lIns="0" tIns="0" rIns="0" bIns="0" rtlCol="0" anchor="t">
            <a:spAutoFit/>
          </a:bodyPr>
          <a:lstStyle/>
          <a:p>
            <a:pPr algn="l">
              <a:lnSpc>
                <a:spcPts val="3399"/>
              </a:lnSpc>
            </a:pPr>
            <a:r>
              <a:rPr lang="en-US" sz="2700">
                <a:solidFill>
                  <a:srgbClr val="666666"/>
                </a:solidFill>
                <a:latin typeface="Arimo"/>
                <a:ea typeface="Arimo"/>
                <a:cs typeface="Arimo"/>
                <a:sym typeface="Arimo"/>
              </a:rPr>
              <a:t>Crowded Places</a:t>
            </a:r>
          </a:p>
        </p:txBody>
      </p:sp>
      <p:sp>
        <p:nvSpPr>
          <p:cNvPr id="23" name="TextBox 23"/>
          <p:cNvSpPr txBox="1"/>
          <p:nvPr/>
        </p:nvSpPr>
        <p:spPr>
          <a:xfrm>
            <a:off x="13751719" y="8413556"/>
            <a:ext cx="4135193" cy="992981"/>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Automated monitoring in events and venues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3726875" y="188766"/>
            <a:ext cx="10142487" cy="952652"/>
          </a:xfrm>
          <a:prstGeom prst="rect">
            <a:avLst/>
          </a:prstGeom>
        </p:spPr>
        <p:txBody>
          <a:bodyPr lIns="0" tIns="0" rIns="0" bIns="0" rtlCol="0" anchor="t">
            <a:spAutoFit/>
          </a:bodyPr>
          <a:lstStyle/>
          <a:p>
            <a:pPr algn="ctr">
              <a:lnSpc>
                <a:spcPts val="6900"/>
              </a:lnSpc>
            </a:pPr>
            <a:r>
              <a:rPr lang="en-US" sz="5500">
                <a:solidFill>
                  <a:srgbClr val="3F6FF3"/>
                </a:solidFill>
                <a:latin typeface="Arimo"/>
                <a:ea typeface="Arimo"/>
                <a:cs typeface="Arimo"/>
                <a:sym typeface="Arimo"/>
              </a:rPr>
              <a:t>VU Process Model</a:t>
            </a:r>
          </a:p>
        </p:txBody>
      </p:sp>
      <p:grpSp>
        <p:nvGrpSpPr>
          <p:cNvPr id="7" name="Group 7"/>
          <p:cNvGrpSpPr/>
          <p:nvPr/>
        </p:nvGrpSpPr>
        <p:grpSpPr>
          <a:xfrm>
            <a:off x="3551615" y="1517456"/>
            <a:ext cx="10493007" cy="7953832"/>
            <a:chOff x="0" y="0"/>
            <a:chExt cx="13990676" cy="10605110"/>
          </a:xfrm>
        </p:grpSpPr>
        <p:sp>
          <p:nvSpPr>
            <p:cNvPr id="8" name="Freeform 8"/>
            <p:cNvSpPr/>
            <p:nvPr/>
          </p:nvSpPr>
          <p:spPr>
            <a:xfrm>
              <a:off x="0" y="0"/>
              <a:ext cx="13990701" cy="10605135"/>
            </a:xfrm>
            <a:custGeom>
              <a:avLst/>
              <a:gdLst/>
              <a:ahLst/>
              <a:cxnLst/>
              <a:rect l="l" t="t" r="r" b="b"/>
              <a:pathLst>
                <a:path w="13990701" h="10605135">
                  <a:moveTo>
                    <a:pt x="0" y="0"/>
                  </a:moveTo>
                  <a:lnTo>
                    <a:pt x="13990701" y="0"/>
                  </a:lnTo>
                  <a:lnTo>
                    <a:pt x="13990701" y="10605135"/>
                  </a:lnTo>
                  <a:lnTo>
                    <a:pt x="0" y="10605135"/>
                  </a:lnTo>
                  <a:lnTo>
                    <a:pt x="0" y="0"/>
                  </a:lnTo>
                  <a:close/>
                </a:path>
              </a:pathLst>
            </a:custGeom>
            <a:blipFill>
              <a:blip r:embed="rId4"/>
              <a:stretch>
                <a:fillRect r="-70"/>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072757" y="287455"/>
            <a:ext cx="10142487" cy="952652"/>
          </a:xfrm>
          <a:prstGeom prst="rect">
            <a:avLst/>
          </a:prstGeom>
        </p:spPr>
        <p:txBody>
          <a:bodyPr lIns="0" tIns="0" rIns="0" bIns="0" rtlCol="0" anchor="t">
            <a:spAutoFit/>
          </a:bodyPr>
          <a:lstStyle/>
          <a:p>
            <a:pPr algn="ctr">
              <a:lnSpc>
                <a:spcPts val="6900"/>
              </a:lnSpc>
            </a:pPr>
            <a:r>
              <a:rPr lang="en-US" sz="5500">
                <a:solidFill>
                  <a:srgbClr val="3F6FF3"/>
                </a:solidFill>
                <a:latin typeface="Arimo"/>
                <a:ea typeface="Arimo"/>
                <a:cs typeface="Arimo"/>
                <a:sym typeface="Arimo"/>
              </a:rPr>
              <a:t>Use Case Diagram</a:t>
            </a:r>
          </a:p>
        </p:txBody>
      </p:sp>
      <p:grpSp>
        <p:nvGrpSpPr>
          <p:cNvPr id="7" name="Group 7"/>
          <p:cNvGrpSpPr/>
          <p:nvPr/>
        </p:nvGrpSpPr>
        <p:grpSpPr>
          <a:xfrm>
            <a:off x="1433170" y="1274493"/>
            <a:ext cx="14829406" cy="9012507"/>
            <a:chOff x="0" y="0"/>
            <a:chExt cx="19772541" cy="12016676"/>
          </a:xfrm>
        </p:grpSpPr>
        <p:sp>
          <p:nvSpPr>
            <p:cNvPr id="8" name="Freeform 8"/>
            <p:cNvSpPr/>
            <p:nvPr/>
          </p:nvSpPr>
          <p:spPr>
            <a:xfrm>
              <a:off x="0" y="0"/>
              <a:ext cx="19772503" cy="12016613"/>
            </a:xfrm>
            <a:custGeom>
              <a:avLst/>
              <a:gdLst/>
              <a:ahLst/>
              <a:cxnLst/>
              <a:rect l="l" t="t" r="r" b="b"/>
              <a:pathLst>
                <a:path w="19772503" h="12016613">
                  <a:moveTo>
                    <a:pt x="0" y="0"/>
                  </a:moveTo>
                  <a:lnTo>
                    <a:pt x="19772503" y="0"/>
                  </a:lnTo>
                  <a:lnTo>
                    <a:pt x="19772503" y="12016613"/>
                  </a:lnTo>
                  <a:lnTo>
                    <a:pt x="0" y="12016613"/>
                  </a:lnTo>
                  <a:lnTo>
                    <a:pt x="0" y="0"/>
                  </a:lnTo>
                  <a:close/>
                </a:path>
              </a:pathLst>
            </a:custGeom>
            <a:blipFill>
              <a:blip r:embed="rId4"/>
              <a:stretch>
                <a:fillRect r="-2"/>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8163744" y="4833861"/>
            <a:ext cx="7088238" cy="752627"/>
          </a:xfrm>
          <a:prstGeom prst="rect">
            <a:avLst/>
          </a:prstGeom>
        </p:spPr>
        <p:txBody>
          <a:bodyPr lIns="0" tIns="0" rIns="0" bIns="0" rtlCol="0" anchor="t">
            <a:spAutoFit/>
          </a:bodyPr>
          <a:lstStyle/>
          <a:p>
            <a:pPr algn="l">
              <a:lnSpc>
                <a:spcPts val="6900"/>
              </a:lnSpc>
            </a:pPr>
            <a:r>
              <a:rPr lang="en-US" sz="7200">
                <a:solidFill>
                  <a:srgbClr val="3F6FF3"/>
                </a:solidFill>
                <a:latin typeface="Arimo"/>
                <a:ea typeface="Arimo"/>
                <a:cs typeface="Arimo"/>
                <a:sym typeface="Arimo"/>
              </a:rPr>
              <a:t>Business Rules Catalog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850238" y="845191"/>
            <a:ext cx="9445523" cy="1740694"/>
          </a:xfrm>
          <a:prstGeom prst="rect">
            <a:avLst/>
          </a:prstGeom>
        </p:spPr>
        <p:txBody>
          <a:bodyPr lIns="0" tIns="0" rIns="0" bIns="0" rtlCol="0" anchor="t">
            <a:spAutoFit/>
          </a:bodyPr>
          <a:lstStyle/>
          <a:p>
            <a:pPr algn="l">
              <a:lnSpc>
                <a:spcPts val="6600"/>
              </a:lnSpc>
            </a:pPr>
            <a:r>
              <a:rPr lang="en-US" sz="5299">
                <a:solidFill>
                  <a:srgbClr val="3F6FF3"/>
                </a:solidFill>
                <a:latin typeface="Arimo"/>
                <a:ea typeface="Arimo"/>
                <a:cs typeface="Arimo"/>
                <a:sym typeface="Arimo"/>
              </a:rPr>
              <a:t>Business Rules Catalog: Data &amp; Model</a:t>
            </a:r>
          </a:p>
        </p:txBody>
      </p:sp>
      <p:grpSp>
        <p:nvGrpSpPr>
          <p:cNvPr id="9" name="Group 9"/>
          <p:cNvGrpSpPr/>
          <p:nvPr/>
        </p:nvGrpSpPr>
        <p:grpSpPr>
          <a:xfrm>
            <a:off x="7831188" y="2950664"/>
            <a:ext cx="9483623" cy="3327644"/>
            <a:chOff x="0" y="0"/>
            <a:chExt cx="12644831" cy="4436859"/>
          </a:xfrm>
        </p:grpSpPr>
        <p:sp>
          <p:nvSpPr>
            <p:cNvPr id="10" name="Freeform 10"/>
            <p:cNvSpPr/>
            <p:nvPr/>
          </p:nvSpPr>
          <p:spPr>
            <a:xfrm>
              <a:off x="25400" y="25400"/>
              <a:ext cx="12594082" cy="4386072"/>
            </a:xfrm>
            <a:custGeom>
              <a:avLst/>
              <a:gdLst/>
              <a:ahLst/>
              <a:cxnLst/>
              <a:rect l="l" t="t" r="r" b="b"/>
              <a:pathLst>
                <a:path w="12594082" h="4386072">
                  <a:moveTo>
                    <a:pt x="0" y="323215"/>
                  </a:moveTo>
                  <a:cubicBezTo>
                    <a:pt x="0" y="144653"/>
                    <a:pt x="145796" y="0"/>
                    <a:pt x="325628" y="0"/>
                  </a:cubicBezTo>
                  <a:lnTo>
                    <a:pt x="12268454" y="0"/>
                  </a:lnTo>
                  <a:cubicBezTo>
                    <a:pt x="12448286" y="0"/>
                    <a:pt x="12594082" y="144653"/>
                    <a:pt x="12594082" y="323215"/>
                  </a:cubicBezTo>
                  <a:lnTo>
                    <a:pt x="12594082" y="4062857"/>
                  </a:lnTo>
                  <a:cubicBezTo>
                    <a:pt x="12594082" y="4241419"/>
                    <a:pt x="12448286" y="4386072"/>
                    <a:pt x="12268454" y="4386072"/>
                  </a:cubicBezTo>
                  <a:lnTo>
                    <a:pt x="325628" y="4386072"/>
                  </a:lnTo>
                  <a:cubicBezTo>
                    <a:pt x="145796" y="4386072"/>
                    <a:pt x="0" y="4241419"/>
                    <a:pt x="0" y="4062857"/>
                  </a:cubicBezTo>
                  <a:close/>
                </a:path>
              </a:pathLst>
            </a:custGeom>
            <a:solidFill>
              <a:srgbClr val="FFFFFF">
                <a:alpha val="90196"/>
              </a:srgbClr>
            </a:solidFill>
          </p:spPr>
        </p:sp>
        <p:sp>
          <p:nvSpPr>
            <p:cNvPr id="11" name="Freeform 11"/>
            <p:cNvSpPr/>
            <p:nvPr/>
          </p:nvSpPr>
          <p:spPr>
            <a:xfrm>
              <a:off x="0" y="0"/>
              <a:ext cx="12644882" cy="4436872"/>
            </a:xfrm>
            <a:custGeom>
              <a:avLst/>
              <a:gdLst/>
              <a:ahLst/>
              <a:cxnLst/>
              <a:rect l="l" t="t" r="r" b="b"/>
              <a:pathLst>
                <a:path w="12644882" h="4436872">
                  <a:moveTo>
                    <a:pt x="0" y="348615"/>
                  </a:moveTo>
                  <a:cubicBezTo>
                    <a:pt x="0" y="155956"/>
                    <a:pt x="157353" y="0"/>
                    <a:pt x="351028" y="0"/>
                  </a:cubicBezTo>
                  <a:lnTo>
                    <a:pt x="12293854" y="0"/>
                  </a:lnTo>
                  <a:lnTo>
                    <a:pt x="12293854" y="25400"/>
                  </a:lnTo>
                  <a:lnTo>
                    <a:pt x="12293854" y="0"/>
                  </a:lnTo>
                  <a:cubicBezTo>
                    <a:pt x="12487529" y="0"/>
                    <a:pt x="12644882" y="155956"/>
                    <a:pt x="12644882" y="348615"/>
                  </a:cubicBezTo>
                  <a:lnTo>
                    <a:pt x="12619482" y="348615"/>
                  </a:lnTo>
                  <a:lnTo>
                    <a:pt x="12644882" y="348615"/>
                  </a:lnTo>
                  <a:lnTo>
                    <a:pt x="12644882" y="4088257"/>
                  </a:lnTo>
                  <a:lnTo>
                    <a:pt x="12619482" y="4088257"/>
                  </a:lnTo>
                  <a:lnTo>
                    <a:pt x="12644882" y="4088257"/>
                  </a:lnTo>
                  <a:cubicBezTo>
                    <a:pt x="12644882" y="4280916"/>
                    <a:pt x="12487529" y="4436872"/>
                    <a:pt x="12293854" y="4436872"/>
                  </a:cubicBezTo>
                  <a:lnTo>
                    <a:pt x="12293854" y="4411472"/>
                  </a:lnTo>
                  <a:lnTo>
                    <a:pt x="12293854" y="4436872"/>
                  </a:lnTo>
                  <a:lnTo>
                    <a:pt x="351028" y="4436872"/>
                  </a:lnTo>
                  <a:lnTo>
                    <a:pt x="351028" y="4411472"/>
                  </a:lnTo>
                  <a:lnTo>
                    <a:pt x="351028" y="4436872"/>
                  </a:lnTo>
                  <a:cubicBezTo>
                    <a:pt x="157353" y="4436872"/>
                    <a:pt x="0" y="4280916"/>
                    <a:pt x="0" y="4088257"/>
                  </a:cubicBezTo>
                  <a:lnTo>
                    <a:pt x="0" y="348615"/>
                  </a:lnTo>
                  <a:lnTo>
                    <a:pt x="25400" y="348615"/>
                  </a:lnTo>
                  <a:lnTo>
                    <a:pt x="0" y="348615"/>
                  </a:lnTo>
                  <a:moveTo>
                    <a:pt x="50800" y="348615"/>
                  </a:moveTo>
                  <a:lnTo>
                    <a:pt x="50800" y="4088257"/>
                  </a:lnTo>
                  <a:lnTo>
                    <a:pt x="25400" y="4088257"/>
                  </a:lnTo>
                  <a:lnTo>
                    <a:pt x="50800" y="4088257"/>
                  </a:lnTo>
                  <a:cubicBezTo>
                    <a:pt x="50800" y="4252595"/>
                    <a:pt x="185039" y="4386072"/>
                    <a:pt x="351028" y="4386072"/>
                  </a:cubicBezTo>
                  <a:lnTo>
                    <a:pt x="12293854" y="4386072"/>
                  </a:lnTo>
                  <a:cubicBezTo>
                    <a:pt x="12459843" y="4386072"/>
                    <a:pt x="12594082" y="4252595"/>
                    <a:pt x="12594082" y="4088257"/>
                  </a:cubicBezTo>
                  <a:lnTo>
                    <a:pt x="12594082" y="348615"/>
                  </a:lnTo>
                  <a:cubicBezTo>
                    <a:pt x="12594082" y="184277"/>
                    <a:pt x="12459843" y="50800"/>
                    <a:pt x="12293854" y="50800"/>
                  </a:cubicBezTo>
                  <a:lnTo>
                    <a:pt x="351028" y="50800"/>
                  </a:lnTo>
                  <a:lnTo>
                    <a:pt x="351028" y="25400"/>
                  </a:lnTo>
                  <a:lnTo>
                    <a:pt x="351028" y="50800"/>
                  </a:lnTo>
                  <a:cubicBezTo>
                    <a:pt x="185039" y="50800"/>
                    <a:pt x="50800" y="184277"/>
                    <a:pt x="50800" y="348615"/>
                  </a:cubicBezTo>
                  <a:close/>
                </a:path>
              </a:pathLst>
            </a:custGeom>
            <a:solidFill>
              <a:srgbClr val="B5C1E2"/>
            </a:solidFill>
          </p:spPr>
        </p:sp>
      </p:grpSp>
      <p:grpSp>
        <p:nvGrpSpPr>
          <p:cNvPr id="12" name="Group 12"/>
          <p:cNvGrpSpPr/>
          <p:nvPr/>
        </p:nvGrpSpPr>
        <p:grpSpPr>
          <a:xfrm>
            <a:off x="7888338" y="3007814"/>
            <a:ext cx="1077363" cy="3213344"/>
            <a:chOff x="0" y="0"/>
            <a:chExt cx="1436484" cy="4284459"/>
          </a:xfrm>
        </p:grpSpPr>
        <p:sp>
          <p:nvSpPr>
            <p:cNvPr id="13" name="Freeform 13"/>
            <p:cNvSpPr/>
            <p:nvPr/>
          </p:nvSpPr>
          <p:spPr>
            <a:xfrm>
              <a:off x="0" y="0"/>
              <a:ext cx="1436497" cy="4284472"/>
            </a:xfrm>
            <a:custGeom>
              <a:avLst/>
              <a:gdLst/>
              <a:ahLst/>
              <a:cxnLst/>
              <a:rect l="l" t="t" r="r" b="b"/>
              <a:pathLst>
                <a:path w="1436497" h="4284472">
                  <a:moveTo>
                    <a:pt x="0" y="262255"/>
                  </a:moveTo>
                  <a:cubicBezTo>
                    <a:pt x="0" y="117475"/>
                    <a:pt x="117475" y="0"/>
                    <a:pt x="262255" y="0"/>
                  </a:cubicBezTo>
                  <a:lnTo>
                    <a:pt x="1174242" y="0"/>
                  </a:lnTo>
                  <a:cubicBezTo>
                    <a:pt x="1319149" y="0"/>
                    <a:pt x="1436497" y="117475"/>
                    <a:pt x="1436497" y="262255"/>
                  </a:cubicBezTo>
                  <a:lnTo>
                    <a:pt x="1436497" y="4022217"/>
                  </a:lnTo>
                  <a:cubicBezTo>
                    <a:pt x="1436497" y="4167124"/>
                    <a:pt x="1319022" y="4284472"/>
                    <a:pt x="1174242" y="4284472"/>
                  </a:cubicBezTo>
                  <a:lnTo>
                    <a:pt x="262255" y="4284472"/>
                  </a:lnTo>
                  <a:cubicBezTo>
                    <a:pt x="117475" y="4284472"/>
                    <a:pt x="0" y="4166997"/>
                    <a:pt x="0" y="4022217"/>
                  </a:cubicBezTo>
                  <a:close/>
                </a:path>
              </a:pathLst>
            </a:custGeom>
            <a:solidFill>
              <a:srgbClr val="CFDBFC"/>
            </a:solidFill>
          </p:spPr>
        </p:sp>
      </p:grpSp>
      <p:grpSp>
        <p:nvGrpSpPr>
          <p:cNvPr id="14" name="Group 14"/>
          <p:cNvGrpSpPr/>
          <p:nvPr/>
        </p:nvGrpSpPr>
        <p:grpSpPr>
          <a:xfrm>
            <a:off x="8220227" y="4362002"/>
            <a:ext cx="403917" cy="504977"/>
            <a:chOff x="0" y="0"/>
            <a:chExt cx="538556" cy="673303"/>
          </a:xfrm>
        </p:grpSpPr>
        <p:sp>
          <p:nvSpPr>
            <p:cNvPr id="15" name="Freeform 15"/>
            <p:cNvSpPr/>
            <p:nvPr/>
          </p:nvSpPr>
          <p:spPr>
            <a:xfrm>
              <a:off x="0" y="0"/>
              <a:ext cx="538560" cy="673299"/>
            </a:xfrm>
            <a:custGeom>
              <a:avLst/>
              <a:gdLst/>
              <a:ahLst/>
              <a:cxnLst/>
              <a:rect l="l" t="t" r="r" b="b"/>
              <a:pathLst>
                <a:path w="538560" h="673299">
                  <a:moveTo>
                    <a:pt x="0" y="0"/>
                  </a:moveTo>
                  <a:lnTo>
                    <a:pt x="538560" y="0"/>
                  </a:lnTo>
                  <a:lnTo>
                    <a:pt x="538560" y="673299"/>
                  </a:lnTo>
                  <a:lnTo>
                    <a:pt x="0" y="673299"/>
                  </a:lnTo>
                  <a:close/>
                </a:path>
              </a:pathLst>
            </a:custGeom>
            <a:blipFill>
              <a:blip r:embed="rId5">
                <a:alphaModFix amt="0"/>
              </a:blip>
              <a:stretch>
                <a:fillRect l="-110404" r="-110403"/>
              </a:stretch>
            </a:blipFill>
          </p:spPr>
        </p:sp>
        <p:sp>
          <p:nvSpPr>
            <p:cNvPr id="16" name="TextBox 16"/>
            <p:cNvSpPr txBox="1"/>
            <p:nvPr/>
          </p:nvSpPr>
          <p:spPr>
            <a:xfrm>
              <a:off x="0" y="-19050"/>
              <a:ext cx="538556" cy="692353"/>
            </a:xfrm>
            <a:prstGeom prst="rect">
              <a:avLst/>
            </a:prstGeom>
          </p:spPr>
          <p:txBody>
            <a:bodyPr lIns="0" tIns="0" rIns="0" bIns="0" rtlCol="0" anchor="ctr"/>
            <a:lstStyle/>
            <a:p>
              <a:pPr algn="ctr">
                <a:lnSpc>
                  <a:spcPts val="3719"/>
                </a:lnSpc>
              </a:pPr>
              <a:r>
                <a:rPr lang="en-US" sz="3099">
                  <a:solidFill>
                    <a:srgbClr val="000000"/>
                  </a:solidFill>
                  <a:latin typeface="Arimo"/>
                  <a:ea typeface="Arimo"/>
                  <a:cs typeface="Arimo"/>
                  <a:sym typeface="Arimo"/>
                </a:rPr>
                <a:t>1</a:t>
              </a:r>
            </a:p>
          </p:txBody>
        </p:sp>
      </p:grpSp>
      <p:sp>
        <p:nvSpPr>
          <p:cNvPr id="17" name="TextBox 17"/>
          <p:cNvSpPr txBox="1"/>
          <p:nvPr/>
        </p:nvSpPr>
        <p:spPr>
          <a:xfrm>
            <a:off x="9221543" y="3238948"/>
            <a:ext cx="4787798" cy="458838"/>
          </a:xfrm>
          <a:prstGeom prst="rect">
            <a:avLst/>
          </a:prstGeom>
        </p:spPr>
        <p:txBody>
          <a:bodyPr lIns="0" tIns="0" rIns="0" bIns="0" rtlCol="0" anchor="t">
            <a:spAutoFit/>
          </a:bodyPr>
          <a:lstStyle/>
          <a:p>
            <a:pPr algn="l">
              <a:lnSpc>
                <a:spcPts val="3300"/>
              </a:lnSpc>
            </a:pPr>
            <a:r>
              <a:rPr lang="en-US" sz="2600">
                <a:solidFill>
                  <a:srgbClr val="666666"/>
                </a:solidFill>
                <a:latin typeface="Arimo"/>
                <a:ea typeface="Arimo"/>
                <a:cs typeface="Arimo"/>
                <a:sym typeface="Arimo"/>
              </a:rPr>
              <a:t>Data Collection &amp; Preprocessing</a:t>
            </a:r>
          </a:p>
        </p:txBody>
      </p:sp>
      <p:sp>
        <p:nvSpPr>
          <p:cNvPr id="18" name="TextBox 18"/>
          <p:cNvSpPr txBox="1"/>
          <p:nvPr/>
        </p:nvSpPr>
        <p:spPr>
          <a:xfrm>
            <a:off x="9221543" y="3765499"/>
            <a:ext cx="7766895" cy="2186435"/>
          </a:xfrm>
          <a:prstGeom prst="rect">
            <a:avLst/>
          </a:prstGeom>
        </p:spPr>
        <p:txBody>
          <a:bodyPr lIns="0" tIns="0" rIns="0" bIns="0" rtlCol="0" anchor="t">
            <a:spAutoFit/>
          </a:bodyPr>
          <a:lstStyle/>
          <a:p>
            <a:pPr algn="l">
              <a:lnSpc>
                <a:spcPts val="3300"/>
              </a:lnSpc>
            </a:pPr>
            <a:r>
              <a:rPr lang="en-US" sz="2100">
                <a:solidFill>
                  <a:srgbClr val="666666"/>
                </a:solidFill>
                <a:latin typeface="IBM Plex Sans"/>
                <a:ea typeface="IBM Plex Sans"/>
                <a:cs typeface="IBM Plex Sans"/>
                <a:sym typeface="IBM Plex Sans"/>
              </a:rPr>
              <a:t>Collect face images with and without masks. Apply OpenCV or MediaPipe face detection, resize and normalize images, and perform data augmentation through rotation, flipping, and brightness adjustment to improve model generalization.</a:t>
            </a:r>
          </a:p>
        </p:txBody>
      </p:sp>
      <p:grpSp>
        <p:nvGrpSpPr>
          <p:cNvPr id="19" name="Group 19"/>
          <p:cNvGrpSpPr/>
          <p:nvPr/>
        </p:nvGrpSpPr>
        <p:grpSpPr>
          <a:xfrm>
            <a:off x="7831188" y="6496050"/>
            <a:ext cx="9483623" cy="2907506"/>
            <a:chOff x="0" y="0"/>
            <a:chExt cx="12644831" cy="3876675"/>
          </a:xfrm>
        </p:grpSpPr>
        <p:sp>
          <p:nvSpPr>
            <p:cNvPr id="20" name="Freeform 20"/>
            <p:cNvSpPr/>
            <p:nvPr/>
          </p:nvSpPr>
          <p:spPr>
            <a:xfrm>
              <a:off x="25400" y="25400"/>
              <a:ext cx="12594082" cy="3825875"/>
            </a:xfrm>
            <a:custGeom>
              <a:avLst/>
              <a:gdLst/>
              <a:ahLst/>
              <a:cxnLst/>
              <a:rect l="l" t="t" r="r" b="b"/>
              <a:pathLst>
                <a:path w="12594082" h="3825875">
                  <a:moveTo>
                    <a:pt x="0" y="323215"/>
                  </a:moveTo>
                  <a:cubicBezTo>
                    <a:pt x="0" y="144780"/>
                    <a:pt x="146050" y="0"/>
                    <a:pt x="326263" y="0"/>
                  </a:cubicBezTo>
                  <a:lnTo>
                    <a:pt x="12267819" y="0"/>
                  </a:lnTo>
                  <a:cubicBezTo>
                    <a:pt x="12448032" y="0"/>
                    <a:pt x="12594082" y="144780"/>
                    <a:pt x="12594082" y="323215"/>
                  </a:cubicBezTo>
                  <a:lnTo>
                    <a:pt x="12594082" y="3502660"/>
                  </a:lnTo>
                  <a:cubicBezTo>
                    <a:pt x="12594082" y="3681222"/>
                    <a:pt x="12448032" y="3825875"/>
                    <a:pt x="12267819" y="3825875"/>
                  </a:cubicBezTo>
                  <a:lnTo>
                    <a:pt x="326263" y="3825875"/>
                  </a:lnTo>
                  <a:cubicBezTo>
                    <a:pt x="146050" y="3825875"/>
                    <a:pt x="0" y="3681095"/>
                    <a:pt x="0" y="3502660"/>
                  </a:cubicBezTo>
                  <a:close/>
                </a:path>
              </a:pathLst>
            </a:custGeom>
            <a:solidFill>
              <a:srgbClr val="FFFFFF">
                <a:alpha val="90196"/>
              </a:srgbClr>
            </a:solidFill>
          </p:spPr>
        </p:sp>
        <p:sp>
          <p:nvSpPr>
            <p:cNvPr id="21" name="Freeform 21"/>
            <p:cNvSpPr/>
            <p:nvPr/>
          </p:nvSpPr>
          <p:spPr>
            <a:xfrm>
              <a:off x="0" y="0"/>
              <a:ext cx="12644882" cy="3876675"/>
            </a:xfrm>
            <a:custGeom>
              <a:avLst/>
              <a:gdLst/>
              <a:ahLst/>
              <a:cxnLst/>
              <a:rect l="l" t="t" r="r" b="b"/>
              <a:pathLst>
                <a:path w="12644882" h="3876675">
                  <a:moveTo>
                    <a:pt x="0" y="348615"/>
                  </a:moveTo>
                  <a:cubicBezTo>
                    <a:pt x="0" y="155829"/>
                    <a:pt x="157607" y="0"/>
                    <a:pt x="351663" y="0"/>
                  </a:cubicBezTo>
                  <a:lnTo>
                    <a:pt x="12293219" y="0"/>
                  </a:lnTo>
                  <a:lnTo>
                    <a:pt x="12293219" y="25400"/>
                  </a:lnTo>
                  <a:lnTo>
                    <a:pt x="12293219" y="0"/>
                  </a:lnTo>
                  <a:cubicBezTo>
                    <a:pt x="12487148" y="0"/>
                    <a:pt x="12644882" y="155829"/>
                    <a:pt x="12644882" y="348615"/>
                  </a:cubicBezTo>
                  <a:lnTo>
                    <a:pt x="12619482" y="348615"/>
                  </a:lnTo>
                  <a:lnTo>
                    <a:pt x="12644882" y="348615"/>
                  </a:lnTo>
                  <a:lnTo>
                    <a:pt x="12644882" y="3528060"/>
                  </a:lnTo>
                  <a:lnTo>
                    <a:pt x="12619482" y="3528060"/>
                  </a:lnTo>
                  <a:lnTo>
                    <a:pt x="12644882" y="3528060"/>
                  </a:lnTo>
                  <a:cubicBezTo>
                    <a:pt x="12644882" y="3720846"/>
                    <a:pt x="12487275" y="3876675"/>
                    <a:pt x="12293219" y="3876675"/>
                  </a:cubicBezTo>
                  <a:lnTo>
                    <a:pt x="12293219" y="3851275"/>
                  </a:lnTo>
                  <a:lnTo>
                    <a:pt x="12293219" y="3876675"/>
                  </a:lnTo>
                  <a:lnTo>
                    <a:pt x="351663" y="3876675"/>
                  </a:lnTo>
                  <a:lnTo>
                    <a:pt x="351663" y="3851275"/>
                  </a:lnTo>
                  <a:lnTo>
                    <a:pt x="351663" y="3876675"/>
                  </a:lnTo>
                  <a:cubicBezTo>
                    <a:pt x="157607" y="3876675"/>
                    <a:pt x="0" y="3720846"/>
                    <a:pt x="0" y="3528060"/>
                  </a:cubicBezTo>
                  <a:lnTo>
                    <a:pt x="0" y="348615"/>
                  </a:lnTo>
                  <a:lnTo>
                    <a:pt x="25400" y="348615"/>
                  </a:lnTo>
                  <a:lnTo>
                    <a:pt x="0" y="348615"/>
                  </a:lnTo>
                  <a:moveTo>
                    <a:pt x="50800" y="348615"/>
                  </a:moveTo>
                  <a:lnTo>
                    <a:pt x="50800" y="3528060"/>
                  </a:lnTo>
                  <a:lnTo>
                    <a:pt x="25400" y="3528060"/>
                  </a:lnTo>
                  <a:lnTo>
                    <a:pt x="50800" y="3528060"/>
                  </a:lnTo>
                  <a:cubicBezTo>
                    <a:pt x="50800" y="3692398"/>
                    <a:pt x="185293" y="3825875"/>
                    <a:pt x="351663" y="3825875"/>
                  </a:cubicBezTo>
                  <a:lnTo>
                    <a:pt x="12293219" y="3825875"/>
                  </a:lnTo>
                  <a:cubicBezTo>
                    <a:pt x="12459588" y="3825875"/>
                    <a:pt x="12594082" y="3692271"/>
                    <a:pt x="12594082" y="3528060"/>
                  </a:cubicBezTo>
                  <a:lnTo>
                    <a:pt x="12594082" y="348615"/>
                  </a:lnTo>
                  <a:cubicBezTo>
                    <a:pt x="12594082" y="184404"/>
                    <a:pt x="12459589" y="50800"/>
                    <a:pt x="12293219" y="50800"/>
                  </a:cubicBezTo>
                  <a:lnTo>
                    <a:pt x="351663" y="50800"/>
                  </a:lnTo>
                  <a:lnTo>
                    <a:pt x="351663" y="25400"/>
                  </a:lnTo>
                  <a:lnTo>
                    <a:pt x="351663" y="50800"/>
                  </a:lnTo>
                  <a:cubicBezTo>
                    <a:pt x="185293" y="50800"/>
                    <a:pt x="50800" y="184404"/>
                    <a:pt x="50800" y="348615"/>
                  </a:cubicBezTo>
                  <a:close/>
                </a:path>
              </a:pathLst>
            </a:custGeom>
            <a:solidFill>
              <a:srgbClr val="B5C1E2"/>
            </a:solidFill>
          </p:spPr>
        </p:sp>
      </p:grpSp>
      <p:grpSp>
        <p:nvGrpSpPr>
          <p:cNvPr id="22" name="Group 22"/>
          <p:cNvGrpSpPr/>
          <p:nvPr/>
        </p:nvGrpSpPr>
        <p:grpSpPr>
          <a:xfrm>
            <a:off x="7888338" y="6553200"/>
            <a:ext cx="1077363" cy="2793206"/>
            <a:chOff x="0" y="0"/>
            <a:chExt cx="1436484" cy="3724275"/>
          </a:xfrm>
        </p:grpSpPr>
        <p:sp>
          <p:nvSpPr>
            <p:cNvPr id="23" name="Freeform 23"/>
            <p:cNvSpPr/>
            <p:nvPr/>
          </p:nvSpPr>
          <p:spPr>
            <a:xfrm>
              <a:off x="0" y="0"/>
              <a:ext cx="1436497" cy="3724275"/>
            </a:xfrm>
            <a:custGeom>
              <a:avLst/>
              <a:gdLst/>
              <a:ahLst/>
              <a:cxnLst/>
              <a:rect l="l" t="t" r="r" b="b"/>
              <a:pathLst>
                <a:path w="1436497" h="3724275">
                  <a:moveTo>
                    <a:pt x="0" y="262255"/>
                  </a:moveTo>
                  <a:cubicBezTo>
                    <a:pt x="0" y="117475"/>
                    <a:pt x="117475" y="0"/>
                    <a:pt x="262255" y="0"/>
                  </a:cubicBezTo>
                  <a:lnTo>
                    <a:pt x="1174242" y="0"/>
                  </a:lnTo>
                  <a:cubicBezTo>
                    <a:pt x="1319149" y="0"/>
                    <a:pt x="1436497" y="117475"/>
                    <a:pt x="1436497" y="262255"/>
                  </a:cubicBezTo>
                  <a:lnTo>
                    <a:pt x="1436497" y="3462020"/>
                  </a:lnTo>
                  <a:cubicBezTo>
                    <a:pt x="1436497" y="3606927"/>
                    <a:pt x="1319022" y="3724275"/>
                    <a:pt x="1174242" y="3724275"/>
                  </a:cubicBezTo>
                  <a:lnTo>
                    <a:pt x="262255" y="3724275"/>
                  </a:lnTo>
                  <a:cubicBezTo>
                    <a:pt x="117475" y="3724275"/>
                    <a:pt x="0" y="3606800"/>
                    <a:pt x="0" y="3462020"/>
                  </a:cubicBezTo>
                  <a:close/>
                </a:path>
              </a:pathLst>
            </a:custGeom>
            <a:solidFill>
              <a:srgbClr val="CFDBFC"/>
            </a:solidFill>
          </p:spPr>
        </p:sp>
      </p:grpSp>
      <p:grpSp>
        <p:nvGrpSpPr>
          <p:cNvPr id="24" name="Group 24"/>
          <p:cNvGrpSpPr/>
          <p:nvPr/>
        </p:nvGrpSpPr>
        <p:grpSpPr>
          <a:xfrm>
            <a:off x="8220227" y="7697238"/>
            <a:ext cx="403917" cy="504977"/>
            <a:chOff x="0" y="0"/>
            <a:chExt cx="538556" cy="673303"/>
          </a:xfrm>
        </p:grpSpPr>
        <p:sp>
          <p:nvSpPr>
            <p:cNvPr id="25" name="Freeform 25"/>
            <p:cNvSpPr/>
            <p:nvPr/>
          </p:nvSpPr>
          <p:spPr>
            <a:xfrm>
              <a:off x="0" y="0"/>
              <a:ext cx="538560" cy="673299"/>
            </a:xfrm>
            <a:custGeom>
              <a:avLst/>
              <a:gdLst/>
              <a:ahLst/>
              <a:cxnLst/>
              <a:rect l="l" t="t" r="r" b="b"/>
              <a:pathLst>
                <a:path w="538560" h="673299">
                  <a:moveTo>
                    <a:pt x="0" y="0"/>
                  </a:moveTo>
                  <a:lnTo>
                    <a:pt x="538560" y="0"/>
                  </a:lnTo>
                  <a:lnTo>
                    <a:pt x="538560" y="673299"/>
                  </a:lnTo>
                  <a:lnTo>
                    <a:pt x="0" y="673299"/>
                  </a:lnTo>
                  <a:close/>
                </a:path>
              </a:pathLst>
            </a:custGeom>
            <a:blipFill>
              <a:blip r:embed="rId5">
                <a:alphaModFix amt="0"/>
              </a:blip>
              <a:stretch>
                <a:fillRect l="-110404" r="-110403"/>
              </a:stretch>
            </a:blipFill>
          </p:spPr>
        </p:sp>
        <p:sp>
          <p:nvSpPr>
            <p:cNvPr id="26" name="TextBox 26"/>
            <p:cNvSpPr txBox="1"/>
            <p:nvPr/>
          </p:nvSpPr>
          <p:spPr>
            <a:xfrm>
              <a:off x="0" y="-19050"/>
              <a:ext cx="538556" cy="692353"/>
            </a:xfrm>
            <a:prstGeom prst="rect">
              <a:avLst/>
            </a:prstGeom>
          </p:spPr>
          <p:txBody>
            <a:bodyPr lIns="0" tIns="0" rIns="0" bIns="0" rtlCol="0" anchor="ctr"/>
            <a:lstStyle/>
            <a:p>
              <a:pPr algn="ctr">
                <a:lnSpc>
                  <a:spcPts val="3719"/>
                </a:lnSpc>
              </a:pPr>
              <a:r>
                <a:rPr lang="en-US" sz="3099">
                  <a:solidFill>
                    <a:srgbClr val="000000"/>
                  </a:solidFill>
                  <a:latin typeface="Arimo"/>
                  <a:ea typeface="Arimo"/>
                  <a:cs typeface="Arimo"/>
                  <a:sym typeface="Arimo"/>
                </a:rPr>
                <a:t>2</a:t>
              </a:r>
            </a:p>
          </p:txBody>
        </p:sp>
      </p:grpSp>
      <p:sp>
        <p:nvSpPr>
          <p:cNvPr id="27" name="TextBox 27"/>
          <p:cNvSpPr txBox="1"/>
          <p:nvPr/>
        </p:nvSpPr>
        <p:spPr>
          <a:xfrm>
            <a:off x="9221543" y="6784334"/>
            <a:ext cx="3366935" cy="458838"/>
          </a:xfrm>
          <a:prstGeom prst="rect">
            <a:avLst/>
          </a:prstGeom>
        </p:spPr>
        <p:txBody>
          <a:bodyPr lIns="0" tIns="0" rIns="0" bIns="0" rtlCol="0" anchor="t">
            <a:spAutoFit/>
          </a:bodyPr>
          <a:lstStyle/>
          <a:p>
            <a:pPr algn="l">
              <a:lnSpc>
                <a:spcPts val="3300"/>
              </a:lnSpc>
            </a:pPr>
            <a:r>
              <a:rPr lang="en-US" sz="2600">
                <a:solidFill>
                  <a:srgbClr val="666666"/>
                </a:solidFill>
                <a:latin typeface="Arimo"/>
                <a:ea typeface="Arimo"/>
                <a:cs typeface="Arimo"/>
                <a:sym typeface="Arimo"/>
              </a:rPr>
              <a:t>Model Development</a:t>
            </a:r>
          </a:p>
        </p:txBody>
      </p:sp>
      <p:sp>
        <p:nvSpPr>
          <p:cNvPr id="28" name="TextBox 28"/>
          <p:cNvSpPr txBox="1"/>
          <p:nvPr/>
        </p:nvSpPr>
        <p:spPr>
          <a:xfrm>
            <a:off x="9221543" y="7310885"/>
            <a:ext cx="7766895" cy="1766297"/>
          </a:xfrm>
          <a:prstGeom prst="rect">
            <a:avLst/>
          </a:prstGeom>
        </p:spPr>
        <p:txBody>
          <a:bodyPr lIns="0" tIns="0" rIns="0" bIns="0" rtlCol="0" anchor="t">
            <a:spAutoFit/>
          </a:bodyPr>
          <a:lstStyle/>
          <a:p>
            <a:pPr algn="l">
              <a:lnSpc>
                <a:spcPts val="3300"/>
              </a:lnSpc>
            </a:pPr>
            <a:r>
              <a:rPr lang="en-US" sz="2100">
                <a:solidFill>
                  <a:srgbClr val="666666"/>
                </a:solidFill>
                <a:latin typeface="IBM Plex Sans"/>
                <a:ea typeface="IBM Plex Sans"/>
                <a:cs typeface="IBM Plex Sans"/>
                <a:sym typeface="IBM Plex Sans"/>
              </a:rPr>
              <a:t>Implement a CNN or fine-tune pretrained models like MobileNet. Train for binary classification (Mask/No Mask) using dropout, batch normalization, and hyperparameter tuning to optimize performance.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987476" y="1634719"/>
            <a:ext cx="14171562" cy="952652"/>
          </a:xfrm>
          <a:prstGeom prst="rect">
            <a:avLst/>
          </a:prstGeom>
        </p:spPr>
        <p:txBody>
          <a:bodyPr lIns="0" tIns="0" rIns="0" bIns="0" rtlCol="0" anchor="t">
            <a:spAutoFit/>
          </a:bodyPr>
          <a:lstStyle/>
          <a:p>
            <a:pPr algn="l">
              <a:lnSpc>
                <a:spcPts val="6900"/>
              </a:lnSpc>
            </a:pPr>
            <a:r>
              <a:rPr lang="en-US" sz="5500" dirty="0">
                <a:solidFill>
                  <a:srgbClr val="3F6FF3"/>
                </a:solidFill>
                <a:latin typeface="Arimo"/>
                <a:ea typeface="Arimo"/>
                <a:cs typeface="Arimo"/>
                <a:sym typeface="Arimo"/>
              </a:rPr>
              <a:t>Business Rules Catalog: Interface &amp; Detection</a:t>
            </a:r>
          </a:p>
        </p:txBody>
      </p:sp>
      <p:grpSp>
        <p:nvGrpSpPr>
          <p:cNvPr id="7" name="Group 7"/>
          <p:cNvGrpSpPr/>
          <p:nvPr/>
        </p:nvGrpSpPr>
        <p:grpSpPr>
          <a:xfrm>
            <a:off x="987476" y="3564579"/>
            <a:ext cx="5254971" cy="4610843"/>
            <a:chOff x="0" y="0"/>
            <a:chExt cx="7006628" cy="6147791"/>
          </a:xfrm>
        </p:grpSpPr>
        <p:sp>
          <p:nvSpPr>
            <p:cNvPr id="8" name="Freeform 8"/>
            <p:cNvSpPr/>
            <p:nvPr/>
          </p:nvSpPr>
          <p:spPr>
            <a:xfrm>
              <a:off x="6350" y="6350"/>
              <a:ext cx="6993890" cy="6135116"/>
            </a:xfrm>
            <a:custGeom>
              <a:avLst/>
              <a:gdLst/>
              <a:ahLst/>
              <a:cxnLst/>
              <a:rect l="l" t="t" r="r" b="b"/>
              <a:pathLst>
                <a:path w="6993890" h="6135116">
                  <a:moveTo>
                    <a:pt x="0" y="340233"/>
                  </a:moveTo>
                  <a:cubicBezTo>
                    <a:pt x="0" y="152400"/>
                    <a:pt x="152400" y="0"/>
                    <a:pt x="340360" y="0"/>
                  </a:cubicBezTo>
                  <a:lnTo>
                    <a:pt x="6653530" y="0"/>
                  </a:lnTo>
                  <a:cubicBezTo>
                    <a:pt x="6841490" y="0"/>
                    <a:pt x="6993890" y="152273"/>
                    <a:pt x="6993890" y="340233"/>
                  </a:cubicBezTo>
                  <a:lnTo>
                    <a:pt x="6993890" y="5794883"/>
                  </a:lnTo>
                  <a:cubicBezTo>
                    <a:pt x="6993890" y="5982843"/>
                    <a:pt x="6841490" y="6135116"/>
                    <a:pt x="6653530" y="6135116"/>
                  </a:cubicBezTo>
                  <a:lnTo>
                    <a:pt x="340360" y="6135116"/>
                  </a:lnTo>
                  <a:cubicBezTo>
                    <a:pt x="152400" y="6135116"/>
                    <a:pt x="0" y="5982716"/>
                    <a:pt x="0" y="5794883"/>
                  </a:cubicBezTo>
                  <a:close/>
                </a:path>
              </a:pathLst>
            </a:custGeom>
            <a:solidFill>
              <a:srgbClr val="CFDBFC"/>
            </a:solidFill>
          </p:spPr>
        </p:sp>
        <p:sp>
          <p:nvSpPr>
            <p:cNvPr id="9" name="Freeform 9"/>
            <p:cNvSpPr/>
            <p:nvPr/>
          </p:nvSpPr>
          <p:spPr>
            <a:xfrm>
              <a:off x="0" y="0"/>
              <a:ext cx="7006590" cy="6147816"/>
            </a:xfrm>
            <a:custGeom>
              <a:avLst/>
              <a:gdLst/>
              <a:ahLst/>
              <a:cxnLst/>
              <a:rect l="l" t="t" r="r" b="b"/>
              <a:pathLst>
                <a:path w="7006590" h="6147816">
                  <a:moveTo>
                    <a:pt x="0" y="346583"/>
                  </a:moveTo>
                  <a:cubicBezTo>
                    <a:pt x="0" y="155194"/>
                    <a:pt x="155194" y="0"/>
                    <a:pt x="346710" y="0"/>
                  </a:cubicBezTo>
                  <a:lnTo>
                    <a:pt x="6659880" y="0"/>
                  </a:lnTo>
                  <a:lnTo>
                    <a:pt x="6659880" y="6350"/>
                  </a:lnTo>
                  <a:lnTo>
                    <a:pt x="6659880" y="0"/>
                  </a:lnTo>
                  <a:cubicBezTo>
                    <a:pt x="6851397" y="0"/>
                    <a:pt x="7006590" y="155194"/>
                    <a:pt x="7006590" y="346583"/>
                  </a:cubicBezTo>
                  <a:lnTo>
                    <a:pt x="7000240" y="346583"/>
                  </a:lnTo>
                  <a:lnTo>
                    <a:pt x="7006590" y="346583"/>
                  </a:lnTo>
                  <a:lnTo>
                    <a:pt x="7006590" y="5801233"/>
                  </a:lnTo>
                  <a:lnTo>
                    <a:pt x="7000240" y="5801233"/>
                  </a:lnTo>
                  <a:lnTo>
                    <a:pt x="7006590" y="5801233"/>
                  </a:lnTo>
                  <a:cubicBezTo>
                    <a:pt x="7006590" y="5992622"/>
                    <a:pt x="6851397" y="6147816"/>
                    <a:pt x="6659880" y="6147816"/>
                  </a:cubicBezTo>
                  <a:lnTo>
                    <a:pt x="6659880" y="6141466"/>
                  </a:lnTo>
                  <a:lnTo>
                    <a:pt x="6659880" y="6147816"/>
                  </a:lnTo>
                  <a:lnTo>
                    <a:pt x="346710" y="6147816"/>
                  </a:lnTo>
                  <a:lnTo>
                    <a:pt x="346710" y="6141466"/>
                  </a:lnTo>
                  <a:lnTo>
                    <a:pt x="346710" y="6147816"/>
                  </a:lnTo>
                  <a:cubicBezTo>
                    <a:pt x="155194" y="6147816"/>
                    <a:pt x="0" y="5992622"/>
                    <a:pt x="0" y="5801233"/>
                  </a:cubicBezTo>
                  <a:lnTo>
                    <a:pt x="0" y="346583"/>
                  </a:lnTo>
                  <a:lnTo>
                    <a:pt x="6350" y="346583"/>
                  </a:lnTo>
                  <a:lnTo>
                    <a:pt x="0" y="346583"/>
                  </a:lnTo>
                  <a:moveTo>
                    <a:pt x="12700" y="346583"/>
                  </a:moveTo>
                  <a:lnTo>
                    <a:pt x="12700" y="5801233"/>
                  </a:lnTo>
                  <a:lnTo>
                    <a:pt x="6350" y="5801233"/>
                  </a:lnTo>
                  <a:lnTo>
                    <a:pt x="12700" y="5801233"/>
                  </a:lnTo>
                  <a:cubicBezTo>
                    <a:pt x="12700" y="5985637"/>
                    <a:pt x="162179" y="6135116"/>
                    <a:pt x="346710" y="6135116"/>
                  </a:cubicBezTo>
                  <a:lnTo>
                    <a:pt x="6659880" y="6135116"/>
                  </a:lnTo>
                  <a:cubicBezTo>
                    <a:pt x="6844285" y="6135116"/>
                    <a:pt x="6993890" y="5985637"/>
                    <a:pt x="6993890" y="5801233"/>
                  </a:cubicBezTo>
                  <a:lnTo>
                    <a:pt x="6993890" y="346583"/>
                  </a:lnTo>
                  <a:cubicBezTo>
                    <a:pt x="6993890" y="162179"/>
                    <a:pt x="6844411" y="12700"/>
                    <a:pt x="6659880" y="12700"/>
                  </a:cubicBezTo>
                  <a:lnTo>
                    <a:pt x="346710" y="12700"/>
                  </a:lnTo>
                  <a:lnTo>
                    <a:pt x="346710" y="6350"/>
                  </a:lnTo>
                  <a:lnTo>
                    <a:pt x="346710" y="12700"/>
                  </a:lnTo>
                  <a:cubicBezTo>
                    <a:pt x="162179" y="12700"/>
                    <a:pt x="12700" y="162179"/>
                    <a:pt x="12700" y="346583"/>
                  </a:cubicBezTo>
                  <a:close/>
                </a:path>
              </a:pathLst>
            </a:custGeom>
            <a:solidFill>
              <a:srgbClr val="B5C1E2"/>
            </a:solidFill>
          </p:spPr>
        </p:sp>
      </p:grpSp>
      <p:grpSp>
        <p:nvGrpSpPr>
          <p:cNvPr id="10" name="Group 10"/>
          <p:cNvGrpSpPr/>
          <p:nvPr/>
        </p:nvGrpSpPr>
        <p:grpSpPr>
          <a:xfrm>
            <a:off x="1285284" y="3862388"/>
            <a:ext cx="850554" cy="850554"/>
            <a:chOff x="0" y="0"/>
            <a:chExt cx="1134072" cy="1134072"/>
          </a:xfrm>
        </p:grpSpPr>
        <p:sp>
          <p:nvSpPr>
            <p:cNvPr id="11" name="Freeform 11"/>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A2B9F9"/>
            </a:solidFill>
          </p:spPr>
        </p:sp>
      </p:grpSp>
      <p:sp>
        <p:nvSpPr>
          <p:cNvPr id="12" name="Freeform 12" descr="preencoded.png"/>
          <p:cNvSpPr/>
          <p:nvPr/>
        </p:nvSpPr>
        <p:spPr>
          <a:xfrm>
            <a:off x="1519238" y="4096198"/>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a:extLst>
                <a:ext uri="{96DAC541-7B7A-43D3-8B79-37D633B846F1}">
                  <asvg:svgBlip xmlns:asvg="http://schemas.microsoft.com/office/drawing/2016/SVG/main" r:embed="rId4"/>
                </a:ext>
              </a:extLst>
            </a:blip>
            <a:stretch>
              <a:fillRect l="-2439" r="-2439"/>
            </a:stretch>
          </a:blipFill>
        </p:spPr>
      </p:sp>
      <p:sp>
        <p:nvSpPr>
          <p:cNvPr id="13" name="TextBox 13"/>
          <p:cNvSpPr txBox="1"/>
          <p:nvPr/>
        </p:nvSpPr>
        <p:spPr>
          <a:xfrm>
            <a:off x="1285284" y="4967888"/>
            <a:ext cx="3544043" cy="471487"/>
          </a:xfrm>
          <a:prstGeom prst="rect">
            <a:avLst/>
          </a:prstGeom>
        </p:spPr>
        <p:txBody>
          <a:bodyPr lIns="0" tIns="0" rIns="0" bIns="0" rtlCol="0" anchor="t">
            <a:spAutoFit/>
          </a:bodyPr>
          <a:lstStyle/>
          <a:p>
            <a:pPr algn="l">
              <a:lnSpc>
                <a:spcPts val="3399"/>
              </a:lnSpc>
            </a:pPr>
            <a:r>
              <a:rPr lang="en-US" sz="2700">
                <a:solidFill>
                  <a:srgbClr val="000000"/>
                </a:solidFill>
                <a:latin typeface="Arimo"/>
                <a:ea typeface="Arimo"/>
                <a:cs typeface="Arimo"/>
                <a:sym typeface="Arimo"/>
              </a:rPr>
              <a:t>Desktop Application</a:t>
            </a:r>
          </a:p>
        </p:txBody>
      </p:sp>
      <p:sp>
        <p:nvSpPr>
          <p:cNvPr id="14" name="TextBox 14"/>
          <p:cNvSpPr txBox="1"/>
          <p:nvPr/>
        </p:nvSpPr>
        <p:spPr>
          <a:xfrm>
            <a:off x="1285284" y="5523757"/>
            <a:ext cx="4659363" cy="1900237"/>
          </a:xfrm>
          <a:prstGeom prst="rect">
            <a:avLst/>
          </a:prstGeom>
        </p:spPr>
        <p:txBody>
          <a:bodyPr lIns="0" tIns="0" rIns="0" bIns="0" rtlCol="0" anchor="t">
            <a:spAutoFit/>
          </a:bodyPr>
          <a:lstStyle/>
          <a:p>
            <a:pPr algn="l">
              <a:lnSpc>
                <a:spcPts val="3500"/>
              </a:lnSpc>
            </a:pPr>
            <a:r>
              <a:rPr lang="en-US" sz="2200">
                <a:solidFill>
                  <a:srgbClr val="000000"/>
                </a:solidFill>
                <a:latin typeface="IBM Plex Sans"/>
                <a:ea typeface="IBM Plex Sans"/>
                <a:cs typeface="IBM Plex Sans"/>
                <a:sym typeface="IBM Plex Sans"/>
              </a:rPr>
              <a:t>Tkinter-based interface allowing photo uploads with prediction results and confidence scores displayed</a:t>
            </a:r>
          </a:p>
        </p:txBody>
      </p:sp>
      <p:grpSp>
        <p:nvGrpSpPr>
          <p:cNvPr id="15" name="Group 15"/>
          <p:cNvGrpSpPr/>
          <p:nvPr/>
        </p:nvGrpSpPr>
        <p:grpSpPr>
          <a:xfrm>
            <a:off x="6516443" y="3564579"/>
            <a:ext cx="5254971" cy="4610843"/>
            <a:chOff x="0" y="0"/>
            <a:chExt cx="7006628" cy="6147791"/>
          </a:xfrm>
        </p:grpSpPr>
        <p:sp>
          <p:nvSpPr>
            <p:cNvPr id="16" name="Freeform 16"/>
            <p:cNvSpPr/>
            <p:nvPr/>
          </p:nvSpPr>
          <p:spPr>
            <a:xfrm>
              <a:off x="6350" y="6350"/>
              <a:ext cx="6993890" cy="6135116"/>
            </a:xfrm>
            <a:custGeom>
              <a:avLst/>
              <a:gdLst/>
              <a:ahLst/>
              <a:cxnLst/>
              <a:rect l="l" t="t" r="r" b="b"/>
              <a:pathLst>
                <a:path w="6993890" h="6135116">
                  <a:moveTo>
                    <a:pt x="0" y="340233"/>
                  </a:moveTo>
                  <a:cubicBezTo>
                    <a:pt x="0" y="152400"/>
                    <a:pt x="152400" y="0"/>
                    <a:pt x="340360" y="0"/>
                  </a:cubicBezTo>
                  <a:lnTo>
                    <a:pt x="6653530" y="0"/>
                  </a:lnTo>
                  <a:cubicBezTo>
                    <a:pt x="6841490" y="0"/>
                    <a:pt x="6993890" y="152273"/>
                    <a:pt x="6993890" y="340233"/>
                  </a:cubicBezTo>
                  <a:lnTo>
                    <a:pt x="6993890" y="5794883"/>
                  </a:lnTo>
                  <a:cubicBezTo>
                    <a:pt x="6993890" y="5982843"/>
                    <a:pt x="6841490" y="6135116"/>
                    <a:pt x="6653530" y="6135116"/>
                  </a:cubicBezTo>
                  <a:lnTo>
                    <a:pt x="340360" y="6135116"/>
                  </a:lnTo>
                  <a:cubicBezTo>
                    <a:pt x="152400" y="6135116"/>
                    <a:pt x="0" y="5982716"/>
                    <a:pt x="0" y="5794883"/>
                  </a:cubicBezTo>
                  <a:close/>
                </a:path>
              </a:pathLst>
            </a:custGeom>
            <a:solidFill>
              <a:srgbClr val="CFDBFC"/>
            </a:solidFill>
          </p:spPr>
        </p:sp>
        <p:sp>
          <p:nvSpPr>
            <p:cNvPr id="17" name="Freeform 17"/>
            <p:cNvSpPr/>
            <p:nvPr/>
          </p:nvSpPr>
          <p:spPr>
            <a:xfrm>
              <a:off x="0" y="0"/>
              <a:ext cx="7006590" cy="6147816"/>
            </a:xfrm>
            <a:custGeom>
              <a:avLst/>
              <a:gdLst/>
              <a:ahLst/>
              <a:cxnLst/>
              <a:rect l="l" t="t" r="r" b="b"/>
              <a:pathLst>
                <a:path w="7006590" h="6147816">
                  <a:moveTo>
                    <a:pt x="0" y="346583"/>
                  </a:moveTo>
                  <a:cubicBezTo>
                    <a:pt x="0" y="155194"/>
                    <a:pt x="155194" y="0"/>
                    <a:pt x="346710" y="0"/>
                  </a:cubicBezTo>
                  <a:lnTo>
                    <a:pt x="6659880" y="0"/>
                  </a:lnTo>
                  <a:lnTo>
                    <a:pt x="6659880" y="6350"/>
                  </a:lnTo>
                  <a:lnTo>
                    <a:pt x="6659880" y="0"/>
                  </a:lnTo>
                  <a:cubicBezTo>
                    <a:pt x="6851397" y="0"/>
                    <a:pt x="7006590" y="155194"/>
                    <a:pt x="7006590" y="346583"/>
                  </a:cubicBezTo>
                  <a:lnTo>
                    <a:pt x="7000240" y="346583"/>
                  </a:lnTo>
                  <a:lnTo>
                    <a:pt x="7006590" y="346583"/>
                  </a:lnTo>
                  <a:lnTo>
                    <a:pt x="7006590" y="5801233"/>
                  </a:lnTo>
                  <a:lnTo>
                    <a:pt x="7000240" y="5801233"/>
                  </a:lnTo>
                  <a:lnTo>
                    <a:pt x="7006590" y="5801233"/>
                  </a:lnTo>
                  <a:cubicBezTo>
                    <a:pt x="7006590" y="5992622"/>
                    <a:pt x="6851397" y="6147816"/>
                    <a:pt x="6659880" y="6147816"/>
                  </a:cubicBezTo>
                  <a:lnTo>
                    <a:pt x="6659880" y="6141466"/>
                  </a:lnTo>
                  <a:lnTo>
                    <a:pt x="6659880" y="6147816"/>
                  </a:lnTo>
                  <a:lnTo>
                    <a:pt x="346710" y="6147816"/>
                  </a:lnTo>
                  <a:lnTo>
                    <a:pt x="346710" y="6141466"/>
                  </a:lnTo>
                  <a:lnTo>
                    <a:pt x="346710" y="6147816"/>
                  </a:lnTo>
                  <a:cubicBezTo>
                    <a:pt x="155194" y="6147816"/>
                    <a:pt x="0" y="5992622"/>
                    <a:pt x="0" y="5801233"/>
                  </a:cubicBezTo>
                  <a:lnTo>
                    <a:pt x="0" y="346583"/>
                  </a:lnTo>
                  <a:lnTo>
                    <a:pt x="6350" y="346583"/>
                  </a:lnTo>
                  <a:lnTo>
                    <a:pt x="0" y="346583"/>
                  </a:lnTo>
                  <a:moveTo>
                    <a:pt x="12700" y="346583"/>
                  </a:moveTo>
                  <a:lnTo>
                    <a:pt x="12700" y="5801233"/>
                  </a:lnTo>
                  <a:lnTo>
                    <a:pt x="6350" y="5801233"/>
                  </a:lnTo>
                  <a:lnTo>
                    <a:pt x="12700" y="5801233"/>
                  </a:lnTo>
                  <a:cubicBezTo>
                    <a:pt x="12700" y="5985637"/>
                    <a:pt x="162179" y="6135116"/>
                    <a:pt x="346710" y="6135116"/>
                  </a:cubicBezTo>
                  <a:lnTo>
                    <a:pt x="6659880" y="6135116"/>
                  </a:lnTo>
                  <a:cubicBezTo>
                    <a:pt x="6844285" y="6135116"/>
                    <a:pt x="6993890" y="5985637"/>
                    <a:pt x="6993890" y="5801233"/>
                  </a:cubicBezTo>
                  <a:lnTo>
                    <a:pt x="6993890" y="346583"/>
                  </a:lnTo>
                  <a:cubicBezTo>
                    <a:pt x="6993890" y="162179"/>
                    <a:pt x="6844411" y="12700"/>
                    <a:pt x="6659880" y="12700"/>
                  </a:cubicBezTo>
                  <a:lnTo>
                    <a:pt x="346710" y="12700"/>
                  </a:lnTo>
                  <a:lnTo>
                    <a:pt x="346710" y="6350"/>
                  </a:lnTo>
                  <a:lnTo>
                    <a:pt x="346710" y="12700"/>
                  </a:lnTo>
                  <a:cubicBezTo>
                    <a:pt x="162179" y="12700"/>
                    <a:pt x="12700" y="162179"/>
                    <a:pt x="12700" y="346583"/>
                  </a:cubicBezTo>
                  <a:close/>
                </a:path>
              </a:pathLst>
            </a:custGeom>
            <a:solidFill>
              <a:srgbClr val="B5C1E2"/>
            </a:solidFill>
          </p:spPr>
        </p:sp>
      </p:grpSp>
      <p:grpSp>
        <p:nvGrpSpPr>
          <p:cNvPr id="18" name="Group 18"/>
          <p:cNvGrpSpPr/>
          <p:nvPr/>
        </p:nvGrpSpPr>
        <p:grpSpPr>
          <a:xfrm>
            <a:off x="6814242" y="3862388"/>
            <a:ext cx="850554" cy="850554"/>
            <a:chOff x="0" y="0"/>
            <a:chExt cx="1134072" cy="1134072"/>
          </a:xfrm>
        </p:grpSpPr>
        <p:sp>
          <p:nvSpPr>
            <p:cNvPr id="19" name="Freeform 19"/>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A2B9F9"/>
            </a:solidFill>
          </p:spPr>
        </p:sp>
      </p:grpSp>
      <p:sp>
        <p:nvSpPr>
          <p:cNvPr id="20" name="Freeform 20" descr="preencoded.png"/>
          <p:cNvSpPr/>
          <p:nvPr/>
        </p:nvSpPr>
        <p:spPr>
          <a:xfrm>
            <a:off x="7048205" y="4096198"/>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a:extLst>
                <a:ext uri="{96DAC541-7B7A-43D3-8B79-37D633B846F1}">
                  <asvg:svgBlip xmlns:asvg="http://schemas.microsoft.com/office/drawing/2016/SVG/main" r:embed="rId5"/>
                </a:ext>
              </a:extLst>
            </a:blip>
            <a:stretch>
              <a:fillRect l="-3659" r="-3656"/>
            </a:stretch>
          </a:blipFill>
        </p:spPr>
      </p:sp>
      <p:sp>
        <p:nvSpPr>
          <p:cNvPr id="21" name="TextBox 21"/>
          <p:cNvSpPr txBox="1"/>
          <p:nvPr/>
        </p:nvSpPr>
        <p:spPr>
          <a:xfrm>
            <a:off x="6814242" y="4967888"/>
            <a:ext cx="3544043" cy="471487"/>
          </a:xfrm>
          <a:prstGeom prst="rect">
            <a:avLst/>
          </a:prstGeom>
        </p:spPr>
        <p:txBody>
          <a:bodyPr lIns="0" tIns="0" rIns="0" bIns="0" rtlCol="0" anchor="t">
            <a:spAutoFit/>
          </a:bodyPr>
          <a:lstStyle/>
          <a:p>
            <a:pPr algn="l">
              <a:lnSpc>
                <a:spcPts val="3399"/>
              </a:lnSpc>
            </a:pPr>
            <a:r>
              <a:rPr lang="en-US" sz="2700">
                <a:solidFill>
                  <a:srgbClr val="000000"/>
                </a:solidFill>
                <a:latin typeface="Arimo"/>
                <a:ea typeface="Arimo"/>
                <a:cs typeface="Arimo"/>
                <a:sym typeface="Arimo"/>
              </a:rPr>
              <a:t>Web Application</a:t>
            </a:r>
          </a:p>
        </p:txBody>
      </p:sp>
      <p:sp>
        <p:nvSpPr>
          <p:cNvPr id="22" name="TextBox 22"/>
          <p:cNvSpPr txBox="1"/>
          <p:nvPr/>
        </p:nvSpPr>
        <p:spPr>
          <a:xfrm>
            <a:off x="6814242" y="5523757"/>
            <a:ext cx="4659363" cy="1446609"/>
          </a:xfrm>
          <a:prstGeom prst="rect">
            <a:avLst/>
          </a:prstGeom>
        </p:spPr>
        <p:txBody>
          <a:bodyPr lIns="0" tIns="0" rIns="0" bIns="0" rtlCol="0" anchor="t">
            <a:spAutoFit/>
          </a:bodyPr>
          <a:lstStyle/>
          <a:p>
            <a:pPr algn="l">
              <a:lnSpc>
                <a:spcPts val="3500"/>
              </a:lnSpc>
            </a:pPr>
            <a:r>
              <a:rPr lang="en-US" sz="2200">
                <a:solidFill>
                  <a:srgbClr val="000000"/>
                </a:solidFill>
                <a:latin typeface="IBM Plex Sans"/>
                <a:ea typeface="IBM Plex Sans"/>
                <a:cs typeface="IBM Plex Sans"/>
                <a:sym typeface="IBM Plex Sans"/>
              </a:rPr>
              <a:t>Flask-based web interface for image uploads or live camera feed detection</a:t>
            </a:r>
          </a:p>
        </p:txBody>
      </p:sp>
      <p:grpSp>
        <p:nvGrpSpPr>
          <p:cNvPr id="23" name="Group 23"/>
          <p:cNvGrpSpPr/>
          <p:nvPr/>
        </p:nvGrpSpPr>
        <p:grpSpPr>
          <a:xfrm>
            <a:off x="12045401" y="3564579"/>
            <a:ext cx="5254971" cy="4610843"/>
            <a:chOff x="0" y="0"/>
            <a:chExt cx="7006628" cy="6147791"/>
          </a:xfrm>
        </p:grpSpPr>
        <p:sp>
          <p:nvSpPr>
            <p:cNvPr id="24" name="Freeform 24"/>
            <p:cNvSpPr/>
            <p:nvPr/>
          </p:nvSpPr>
          <p:spPr>
            <a:xfrm>
              <a:off x="6350" y="6350"/>
              <a:ext cx="6993890" cy="6135116"/>
            </a:xfrm>
            <a:custGeom>
              <a:avLst/>
              <a:gdLst/>
              <a:ahLst/>
              <a:cxnLst/>
              <a:rect l="l" t="t" r="r" b="b"/>
              <a:pathLst>
                <a:path w="6993890" h="6135116">
                  <a:moveTo>
                    <a:pt x="0" y="340233"/>
                  </a:moveTo>
                  <a:cubicBezTo>
                    <a:pt x="0" y="152400"/>
                    <a:pt x="152400" y="0"/>
                    <a:pt x="340360" y="0"/>
                  </a:cubicBezTo>
                  <a:lnTo>
                    <a:pt x="6653530" y="0"/>
                  </a:lnTo>
                  <a:cubicBezTo>
                    <a:pt x="6841490" y="0"/>
                    <a:pt x="6993890" y="152273"/>
                    <a:pt x="6993890" y="340233"/>
                  </a:cubicBezTo>
                  <a:lnTo>
                    <a:pt x="6993890" y="5794883"/>
                  </a:lnTo>
                  <a:cubicBezTo>
                    <a:pt x="6993890" y="5982843"/>
                    <a:pt x="6841490" y="6135116"/>
                    <a:pt x="6653530" y="6135116"/>
                  </a:cubicBezTo>
                  <a:lnTo>
                    <a:pt x="340360" y="6135116"/>
                  </a:lnTo>
                  <a:cubicBezTo>
                    <a:pt x="152400" y="6135116"/>
                    <a:pt x="0" y="5982716"/>
                    <a:pt x="0" y="5794883"/>
                  </a:cubicBezTo>
                  <a:close/>
                </a:path>
              </a:pathLst>
            </a:custGeom>
            <a:solidFill>
              <a:srgbClr val="CFDBFC"/>
            </a:solidFill>
          </p:spPr>
        </p:sp>
        <p:sp>
          <p:nvSpPr>
            <p:cNvPr id="25" name="Freeform 25"/>
            <p:cNvSpPr/>
            <p:nvPr/>
          </p:nvSpPr>
          <p:spPr>
            <a:xfrm>
              <a:off x="0" y="0"/>
              <a:ext cx="7006590" cy="6147816"/>
            </a:xfrm>
            <a:custGeom>
              <a:avLst/>
              <a:gdLst/>
              <a:ahLst/>
              <a:cxnLst/>
              <a:rect l="l" t="t" r="r" b="b"/>
              <a:pathLst>
                <a:path w="7006590" h="6147816">
                  <a:moveTo>
                    <a:pt x="0" y="346583"/>
                  </a:moveTo>
                  <a:cubicBezTo>
                    <a:pt x="0" y="155194"/>
                    <a:pt x="155194" y="0"/>
                    <a:pt x="346710" y="0"/>
                  </a:cubicBezTo>
                  <a:lnTo>
                    <a:pt x="6659880" y="0"/>
                  </a:lnTo>
                  <a:lnTo>
                    <a:pt x="6659880" y="6350"/>
                  </a:lnTo>
                  <a:lnTo>
                    <a:pt x="6659880" y="0"/>
                  </a:lnTo>
                  <a:cubicBezTo>
                    <a:pt x="6851397" y="0"/>
                    <a:pt x="7006590" y="155194"/>
                    <a:pt x="7006590" y="346583"/>
                  </a:cubicBezTo>
                  <a:lnTo>
                    <a:pt x="7000240" y="346583"/>
                  </a:lnTo>
                  <a:lnTo>
                    <a:pt x="7006590" y="346583"/>
                  </a:lnTo>
                  <a:lnTo>
                    <a:pt x="7006590" y="5801233"/>
                  </a:lnTo>
                  <a:lnTo>
                    <a:pt x="7000240" y="5801233"/>
                  </a:lnTo>
                  <a:lnTo>
                    <a:pt x="7006590" y="5801233"/>
                  </a:lnTo>
                  <a:cubicBezTo>
                    <a:pt x="7006590" y="5992622"/>
                    <a:pt x="6851397" y="6147816"/>
                    <a:pt x="6659880" y="6147816"/>
                  </a:cubicBezTo>
                  <a:lnTo>
                    <a:pt x="6659880" y="6141466"/>
                  </a:lnTo>
                  <a:lnTo>
                    <a:pt x="6659880" y="6147816"/>
                  </a:lnTo>
                  <a:lnTo>
                    <a:pt x="346710" y="6147816"/>
                  </a:lnTo>
                  <a:lnTo>
                    <a:pt x="346710" y="6141466"/>
                  </a:lnTo>
                  <a:lnTo>
                    <a:pt x="346710" y="6147816"/>
                  </a:lnTo>
                  <a:cubicBezTo>
                    <a:pt x="155194" y="6147816"/>
                    <a:pt x="0" y="5992622"/>
                    <a:pt x="0" y="5801233"/>
                  </a:cubicBezTo>
                  <a:lnTo>
                    <a:pt x="0" y="346583"/>
                  </a:lnTo>
                  <a:lnTo>
                    <a:pt x="6350" y="346583"/>
                  </a:lnTo>
                  <a:lnTo>
                    <a:pt x="0" y="346583"/>
                  </a:lnTo>
                  <a:moveTo>
                    <a:pt x="12700" y="346583"/>
                  </a:moveTo>
                  <a:lnTo>
                    <a:pt x="12700" y="5801233"/>
                  </a:lnTo>
                  <a:lnTo>
                    <a:pt x="6350" y="5801233"/>
                  </a:lnTo>
                  <a:lnTo>
                    <a:pt x="12700" y="5801233"/>
                  </a:lnTo>
                  <a:cubicBezTo>
                    <a:pt x="12700" y="5985637"/>
                    <a:pt x="162179" y="6135116"/>
                    <a:pt x="346710" y="6135116"/>
                  </a:cubicBezTo>
                  <a:lnTo>
                    <a:pt x="6659880" y="6135116"/>
                  </a:lnTo>
                  <a:cubicBezTo>
                    <a:pt x="6844285" y="6135116"/>
                    <a:pt x="6993890" y="5985637"/>
                    <a:pt x="6993890" y="5801233"/>
                  </a:cubicBezTo>
                  <a:lnTo>
                    <a:pt x="6993890" y="346583"/>
                  </a:lnTo>
                  <a:cubicBezTo>
                    <a:pt x="6993890" y="162179"/>
                    <a:pt x="6844411" y="12700"/>
                    <a:pt x="6659880" y="12700"/>
                  </a:cubicBezTo>
                  <a:lnTo>
                    <a:pt x="346710" y="12700"/>
                  </a:lnTo>
                  <a:lnTo>
                    <a:pt x="346710" y="6350"/>
                  </a:lnTo>
                  <a:lnTo>
                    <a:pt x="346710" y="12700"/>
                  </a:lnTo>
                  <a:cubicBezTo>
                    <a:pt x="162179" y="12700"/>
                    <a:pt x="12700" y="162179"/>
                    <a:pt x="12700" y="346583"/>
                  </a:cubicBezTo>
                  <a:close/>
                </a:path>
              </a:pathLst>
            </a:custGeom>
            <a:solidFill>
              <a:srgbClr val="B5C1E2"/>
            </a:solidFill>
          </p:spPr>
        </p:sp>
      </p:grpSp>
      <p:grpSp>
        <p:nvGrpSpPr>
          <p:cNvPr id="26" name="Group 26"/>
          <p:cNvGrpSpPr/>
          <p:nvPr/>
        </p:nvGrpSpPr>
        <p:grpSpPr>
          <a:xfrm>
            <a:off x="12343209" y="3862388"/>
            <a:ext cx="850554" cy="850554"/>
            <a:chOff x="0" y="0"/>
            <a:chExt cx="1134072" cy="1134072"/>
          </a:xfrm>
        </p:grpSpPr>
        <p:sp>
          <p:nvSpPr>
            <p:cNvPr id="27" name="Freeform 27"/>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A2B9F9"/>
            </a:solidFill>
          </p:spPr>
        </p:sp>
      </p:grpSp>
      <p:sp>
        <p:nvSpPr>
          <p:cNvPr id="28" name="Freeform 28" descr="preencoded.png"/>
          <p:cNvSpPr/>
          <p:nvPr/>
        </p:nvSpPr>
        <p:spPr>
          <a:xfrm>
            <a:off x="12577172" y="4096198"/>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a:extLst>
                <a:ext uri="{96DAC541-7B7A-43D3-8B79-37D633B846F1}">
                  <asvg:svgBlip xmlns:asvg="http://schemas.microsoft.com/office/drawing/2016/SVG/main" r:embed="rId6"/>
                </a:ext>
              </a:extLst>
            </a:blip>
            <a:stretch>
              <a:fillRect l="-24390" r="-24390"/>
            </a:stretch>
          </a:blipFill>
        </p:spPr>
      </p:sp>
      <p:sp>
        <p:nvSpPr>
          <p:cNvPr id="29" name="TextBox 29"/>
          <p:cNvSpPr txBox="1"/>
          <p:nvPr/>
        </p:nvSpPr>
        <p:spPr>
          <a:xfrm>
            <a:off x="12343209" y="4967888"/>
            <a:ext cx="3544043" cy="471487"/>
          </a:xfrm>
          <a:prstGeom prst="rect">
            <a:avLst/>
          </a:prstGeom>
        </p:spPr>
        <p:txBody>
          <a:bodyPr lIns="0" tIns="0" rIns="0" bIns="0" rtlCol="0" anchor="t">
            <a:spAutoFit/>
          </a:bodyPr>
          <a:lstStyle/>
          <a:p>
            <a:pPr algn="l">
              <a:lnSpc>
                <a:spcPts val="3399"/>
              </a:lnSpc>
            </a:pPr>
            <a:r>
              <a:rPr lang="en-US" sz="2700">
                <a:solidFill>
                  <a:srgbClr val="000000"/>
                </a:solidFill>
                <a:latin typeface="Arimo"/>
                <a:ea typeface="Arimo"/>
                <a:cs typeface="Arimo"/>
                <a:sym typeface="Arimo"/>
              </a:rPr>
              <a:t>Real-Time Detection</a:t>
            </a:r>
          </a:p>
        </p:txBody>
      </p:sp>
      <p:sp>
        <p:nvSpPr>
          <p:cNvPr id="30" name="TextBox 30"/>
          <p:cNvSpPr txBox="1"/>
          <p:nvPr/>
        </p:nvSpPr>
        <p:spPr>
          <a:xfrm>
            <a:off x="12343209" y="5523757"/>
            <a:ext cx="4659363" cy="2353866"/>
          </a:xfrm>
          <a:prstGeom prst="rect">
            <a:avLst/>
          </a:prstGeom>
        </p:spPr>
        <p:txBody>
          <a:bodyPr lIns="0" tIns="0" rIns="0" bIns="0" rtlCol="0" anchor="t">
            <a:spAutoFit/>
          </a:bodyPr>
          <a:lstStyle/>
          <a:p>
            <a:pPr algn="l">
              <a:lnSpc>
                <a:spcPts val="3500"/>
              </a:lnSpc>
            </a:pPr>
            <a:r>
              <a:rPr lang="en-US" sz="2200">
                <a:solidFill>
                  <a:srgbClr val="000000"/>
                </a:solidFill>
                <a:latin typeface="IBM Plex Sans"/>
                <a:ea typeface="IBM Plex Sans"/>
                <a:cs typeface="IBM Plex Sans"/>
                <a:sym typeface="IBM Plex Sans"/>
              </a:rPr>
              <a:t>OpenCV captures live video from webcam or CCTV, detects faces, classifies as Mask/No Mask, and displays bounding boxes with confidence levels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16058359" y="9688982"/>
            <a:ext cx="2143687" cy="512064"/>
            <a:chOff x="0" y="0"/>
            <a:chExt cx="2858249" cy="682752"/>
          </a:xfrm>
        </p:grpSpPr>
        <p:sp>
          <p:nvSpPr>
            <p:cNvPr id="7" name="Freeform 7" descr="preencoded.png">
              <a:hlinkClick r:id="rId4"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5"/>
              <a:stretch>
                <a:fillRect/>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992238" y="1304325"/>
            <a:ext cx="9445523" cy="1838620"/>
          </a:xfrm>
          <a:prstGeom prst="rect">
            <a:avLst/>
          </a:prstGeom>
        </p:spPr>
        <p:txBody>
          <a:bodyPr lIns="0" tIns="0" rIns="0" bIns="0" rtlCol="0" anchor="t">
            <a:spAutoFit/>
          </a:bodyPr>
          <a:lstStyle/>
          <a:p>
            <a:pPr algn="l">
              <a:lnSpc>
                <a:spcPts val="6900"/>
              </a:lnSpc>
            </a:pPr>
            <a:r>
              <a:rPr lang="en-US" sz="5500">
                <a:solidFill>
                  <a:srgbClr val="3F6FF3"/>
                </a:solidFill>
                <a:latin typeface="Arimo"/>
                <a:ea typeface="Arimo"/>
                <a:cs typeface="Arimo"/>
                <a:sym typeface="Arimo"/>
              </a:rPr>
              <a:t>Business Rules Catalog: Data &amp; Performance</a:t>
            </a:r>
          </a:p>
        </p:txBody>
      </p:sp>
      <p:sp>
        <p:nvSpPr>
          <p:cNvPr id="11" name="TextBox 11"/>
          <p:cNvSpPr txBox="1"/>
          <p:nvPr/>
        </p:nvSpPr>
        <p:spPr>
          <a:xfrm>
            <a:off x="992238" y="3823097"/>
            <a:ext cx="3544043" cy="471487"/>
          </a:xfrm>
          <a:prstGeom prst="rect">
            <a:avLst/>
          </a:prstGeom>
        </p:spPr>
        <p:txBody>
          <a:bodyPr lIns="0" tIns="0" rIns="0" bIns="0" rtlCol="0" anchor="t">
            <a:spAutoFit/>
          </a:bodyPr>
          <a:lstStyle/>
          <a:p>
            <a:pPr algn="l">
              <a:lnSpc>
                <a:spcPts val="3399"/>
              </a:lnSpc>
            </a:pPr>
            <a:r>
              <a:rPr lang="en-US" sz="2700">
                <a:solidFill>
                  <a:srgbClr val="3F6FF3"/>
                </a:solidFill>
                <a:latin typeface="Arimo"/>
                <a:ea typeface="Arimo"/>
                <a:cs typeface="Arimo"/>
                <a:sym typeface="Arimo"/>
              </a:rPr>
              <a:t>Database Integration</a:t>
            </a:r>
          </a:p>
        </p:txBody>
      </p:sp>
      <p:sp>
        <p:nvSpPr>
          <p:cNvPr id="12" name="TextBox 12"/>
          <p:cNvSpPr txBox="1"/>
          <p:nvPr/>
        </p:nvSpPr>
        <p:spPr>
          <a:xfrm>
            <a:off x="992238" y="4492381"/>
            <a:ext cx="4376890" cy="3261122"/>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Store detection results including timestamps, image paths, and predictions using SQLite . Enable administrators to view and analyze detection statistics through query interfaces.</a:t>
            </a:r>
          </a:p>
        </p:txBody>
      </p:sp>
      <p:sp>
        <p:nvSpPr>
          <p:cNvPr id="13" name="TextBox 13"/>
          <p:cNvSpPr txBox="1"/>
          <p:nvPr/>
        </p:nvSpPr>
        <p:spPr>
          <a:xfrm>
            <a:off x="6070406" y="3823097"/>
            <a:ext cx="3823392" cy="471487"/>
          </a:xfrm>
          <a:prstGeom prst="rect">
            <a:avLst/>
          </a:prstGeom>
        </p:spPr>
        <p:txBody>
          <a:bodyPr lIns="0" tIns="0" rIns="0" bIns="0" rtlCol="0" anchor="t">
            <a:spAutoFit/>
          </a:bodyPr>
          <a:lstStyle/>
          <a:p>
            <a:pPr algn="l">
              <a:lnSpc>
                <a:spcPts val="3399"/>
              </a:lnSpc>
            </a:pPr>
            <a:r>
              <a:rPr lang="en-US" sz="2700">
                <a:solidFill>
                  <a:srgbClr val="3F6FF3"/>
                </a:solidFill>
                <a:latin typeface="Arimo"/>
                <a:ea typeface="Arimo"/>
                <a:cs typeface="Arimo"/>
                <a:sym typeface="Arimo"/>
              </a:rPr>
              <a:t>Performance Evaluation</a:t>
            </a:r>
          </a:p>
        </p:txBody>
      </p:sp>
      <p:sp>
        <p:nvSpPr>
          <p:cNvPr id="14" name="TextBox 14"/>
          <p:cNvSpPr txBox="1"/>
          <p:nvPr/>
        </p:nvSpPr>
        <p:spPr>
          <a:xfrm>
            <a:off x="6070406" y="4492381"/>
            <a:ext cx="4376890" cy="4168378"/>
          </a:xfrm>
          <a:prstGeom prst="rect">
            <a:avLst/>
          </a:prstGeom>
        </p:spPr>
        <p:txBody>
          <a:bodyPr lIns="0" tIns="0" rIns="0" bIns="0" rtlCol="0" anchor="t">
            <a:spAutoFit/>
          </a:bodyPr>
          <a:lstStyle/>
          <a:p>
            <a:pPr algn="l">
              <a:lnSpc>
                <a:spcPts val="3500"/>
              </a:lnSpc>
            </a:pPr>
            <a:r>
              <a:rPr lang="en-US" sz="2200">
                <a:solidFill>
                  <a:srgbClr val="666666"/>
                </a:solidFill>
                <a:latin typeface="IBM Plex Sans"/>
                <a:ea typeface="IBM Plex Sans"/>
                <a:cs typeface="IBM Plex Sans"/>
                <a:sym typeface="IBM Plex Sans"/>
              </a:rPr>
              <a:t>Evaluate using accuracy, precision, recall, and F1-score metrics. Test under various lighting and camera conditions. Optimize for faster real-time performance while maintaining high accuracy through model compression and hardware acceleration.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1676400" y="4738611"/>
            <a:ext cx="5563572" cy="847877"/>
          </a:xfrm>
          <a:prstGeom prst="rect">
            <a:avLst/>
          </a:prstGeom>
        </p:spPr>
        <p:txBody>
          <a:bodyPr lIns="0" tIns="0" rIns="0" bIns="0" rtlCol="0" anchor="t">
            <a:spAutoFit/>
          </a:bodyPr>
          <a:lstStyle/>
          <a:p>
            <a:pPr algn="ctr">
              <a:lnSpc>
                <a:spcPts val="6900"/>
              </a:lnSpc>
            </a:pPr>
            <a:r>
              <a:rPr lang="en-US" sz="6400">
                <a:solidFill>
                  <a:srgbClr val="3F6FF3"/>
                </a:solidFill>
                <a:latin typeface="Arimo"/>
                <a:ea typeface="Arimo"/>
                <a:cs typeface="Arimo"/>
                <a:sym typeface="Arimo"/>
              </a:rPr>
              <a:t>Architectural </a:t>
            </a:r>
          </a:p>
          <a:p>
            <a:pPr algn="ctr">
              <a:lnSpc>
                <a:spcPts val="6900"/>
              </a:lnSpc>
            </a:pPr>
            <a:r>
              <a:rPr lang="en-US" sz="6400">
                <a:solidFill>
                  <a:srgbClr val="3F6FF3"/>
                </a:solidFill>
                <a:latin typeface="Arimo"/>
                <a:ea typeface="Arimo"/>
                <a:cs typeface="Arimo"/>
                <a:sym typeface="Arimo"/>
              </a:rPr>
              <a:t>Design</a:t>
            </a:r>
          </a:p>
        </p:txBody>
      </p:sp>
      <p:grpSp>
        <p:nvGrpSpPr>
          <p:cNvPr id="7" name="Group 7"/>
          <p:cNvGrpSpPr/>
          <p:nvPr/>
        </p:nvGrpSpPr>
        <p:grpSpPr>
          <a:xfrm>
            <a:off x="10156822" y="388934"/>
            <a:ext cx="4933950" cy="9509122"/>
            <a:chOff x="0" y="0"/>
            <a:chExt cx="6578600" cy="12678829"/>
          </a:xfrm>
        </p:grpSpPr>
        <p:sp>
          <p:nvSpPr>
            <p:cNvPr id="8" name="Freeform 8"/>
            <p:cNvSpPr/>
            <p:nvPr/>
          </p:nvSpPr>
          <p:spPr>
            <a:xfrm>
              <a:off x="0" y="0"/>
              <a:ext cx="6578600" cy="12678791"/>
            </a:xfrm>
            <a:custGeom>
              <a:avLst/>
              <a:gdLst/>
              <a:ahLst/>
              <a:cxnLst/>
              <a:rect l="l" t="t" r="r" b="b"/>
              <a:pathLst>
                <a:path w="6578600" h="12678791">
                  <a:moveTo>
                    <a:pt x="0" y="0"/>
                  </a:moveTo>
                  <a:lnTo>
                    <a:pt x="6578600" y="0"/>
                  </a:lnTo>
                  <a:lnTo>
                    <a:pt x="6578600" y="12678791"/>
                  </a:lnTo>
                  <a:lnTo>
                    <a:pt x="0" y="12678791"/>
                  </a:lnTo>
                  <a:lnTo>
                    <a:pt x="0" y="0"/>
                  </a:lnTo>
                  <a:close/>
                </a:path>
              </a:pathLst>
            </a:custGeom>
            <a:blipFill>
              <a:blip r:embed="rId4"/>
              <a:stretch>
                <a:fillRect r="-248"/>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1921202" y="1945376"/>
            <a:ext cx="14968109" cy="7706382"/>
            <a:chOff x="0" y="0"/>
            <a:chExt cx="19957478" cy="10275176"/>
          </a:xfrm>
        </p:grpSpPr>
        <p:sp>
          <p:nvSpPr>
            <p:cNvPr id="7" name="Freeform 7"/>
            <p:cNvSpPr/>
            <p:nvPr/>
          </p:nvSpPr>
          <p:spPr>
            <a:xfrm>
              <a:off x="0" y="0"/>
              <a:ext cx="19957414" cy="10275189"/>
            </a:xfrm>
            <a:custGeom>
              <a:avLst/>
              <a:gdLst/>
              <a:ahLst/>
              <a:cxnLst/>
              <a:rect l="l" t="t" r="r" b="b"/>
              <a:pathLst>
                <a:path w="19957414" h="10275189">
                  <a:moveTo>
                    <a:pt x="0" y="0"/>
                  </a:moveTo>
                  <a:lnTo>
                    <a:pt x="19957414" y="0"/>
                  </a:lnTo>
                  <a:lnTo>
                    <a:pt x="19957414" y="10275189"/>
                  </a:lnTo>
                  <a:lnTo>
                    <a:pt x="0" y="10275189"/>
                  </a:lnTo>
                  <a:lnTo>
                    <a:pt x="0" y="0"/>
                  </a:lnTo>
                  <a:close/>
                </a:path>
              </a:pathLst>
            </a:custGeom>
            <a:blipFill>
              <a:blip r:embed="rId4"/>
              <a:stretch>
                <a:fillRect b="-18"/>
              </a:stretch>
            </a:blipFill>
          </p:spPr>
        </p:sp>
      </p:grpSp>
      <p:sp>
        <p:nvSpPr>
          <p:cNvPr id="8" name="TextBox 8"/>
          <p:cNvSpPr txBox="1"/>
          <p:nvPr/>
        </p:nvSpPr>
        <p:spPr>
          <a:xfrm>
            <a:off x="4663440" y="784917"/>
            <a:ext cx="8961120" cy="857555"/>
          </a:xfrm>
          <a:prstGeom prst="rect">
            <a:avLst/>
          </a:prstGeom>
        </p:spPr>
        <p:txBody>
          <a:bodyPr lIns="0" tIns="0" rIns="0" bIns="0" rtlCol="0" anchor="t">
            <a:spAutoFit/>
          </a:bodyPr>
          <a:lstStyle/>
          <a:p>
            <a:pPr algn="ctr">
              <a:lnSpc>
                <a:spcPts val="6900"/>
              </a:lnSpc>
            </a:pPr>
            <a:r>
              <a:rPr lang="en-US" sz="7200">
                <a:solidFill>
                  <a:srgbClr val="3F6FF3"/>
                </a:solidFill>
                <a:latin typeface="Arimo"/>
                <a:ea typeface="Arimo"/>
                <a:cs typeface="Arimo"/>
                <a:sym typeface="Arimo"/>
              </a:rPr>
              <a:t>Project Schedule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1004202" y="4846434"/>
            <a:ext cx="8998591" cy="952652"/>
          </a:xfrm>
          <a:prstGeom prst="rect">
            <a:avLst/>
          </a:prstGeom>
        </p:spPr>
        <p:txBody>
          <a:bodyPr lIns="0" tIns="0" rIns="0" bIns="0" rtlCol="0" anchor="t">
            <a:spAutoFit/>
          </a:bodyPr>
          <a:lstStyle/>
          <a:p>
            <a:pPr algn="ctr">
              <a:lnSpc>
                <a:spcPts val="6900"/>
              </a:lnSpc>
            </a:pPr>
            <a:r>
              <a:rPr lang="en-US" sz="5500">
                <a:solidFill>
                  <a:srgbClr val="3F6FF3"/>
                </a:solidFill>
                <a:latin typeface="Arimo"/>
                <a:ea typeface="Arimo"/>
                <a:cs typeface="Arimo"/>
                <a:sym typeface="Arimo"/>
              </a:rPr>
              <a:t>Sequence Diagrams</a:t>
            </a:r>
          </a:p>
        </p:txBody>
      </p:sp>
      <p:grpSp>
        <p:nvGrpSpPr>
          <p:cNvPr id="7" name="Group 7"/>
          <p:cNvGrpSpPr/>
          <p:nvPr/>
        </p:nvGrpSpPr>
        <p:grpSpPr>
          <a:xfrm>
            <a:off x="6949973" y="2692594"/>
            <a:ext cx="10355161" cy="6212977"/>
            <a:chOff x="0" y="0"/>
            <a:chExt cx="13806881" cy="8283969"/>
          </a:xfrm>
        </p:grpSpPr>
        <p:sp>
          <p:nvSpPr>
            <p:cNvPr id="8" name="Freeform 8" descr="preencoded.png"/>
            <p:cNvSpPr/>
            <p:nvPr/>
          </p:nvSpPr>
          <p:spPr>
            <a:xfrm>
              <a:off x="0" y="0"/>
              <a:ext cx="13806932" cy="8283956"/>
            </a:xfrm>
            <a:custGeom>
              <a:avLst/>
              <a:gdLst/>
              <a:ahLst/>
              <a:cxnLst/>
              <a:rect l="l" t="t" r="r" b="b"/>
              <a:pathLst>
                <a:path w="13806932" h="8283956">
                  <a:moveTo>
                    <a:pt x="0" y="0"/>
                  </a:moveTo>
                  <a:lnTo>
                    <a:pt x="13806932" y="0"/>
                  </a:lnTo>
                  <a:lnTo>
                    <a:pt x="13806932" y="8283956"/>
                  </a:lnTo>
                  <a:lnTo>
                    <a:pt x="0" y="8283956"/>
                  </a:lnTo>
                  <a:lnTo>
                    <a:pt x="0" y="0"/>
                  </a:lnTo>
                  <a:close/>
                </a:path>
              </a:pathLst>
            </a:custGeom>
            <a:blipFill>
              <a:blip r:embed="rId4"/>
              <a:stretch>
                <a:fillRect l="-14" r="-14"/>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6362214" y="623240"/>
            <a:ext cx="5563572" cy="952652"/>
          </a:xfrm>
          <a:prstGeom prst="rect">
            <a:avLst/>
          </a:prstGeom>
        </p:spPr>
        <p:txBody>
          <a:bodyPr lIns="0" tIns="0" rIns="0" bIns="0" rtlCol="0" anchor="t">
            <a:spAutoFit/>
          </a:bodyPr>
          <a:lstStyle/>
          <a:p>
            <a:pPr algn="ctr">
              <a:lnSpc>
                <a:spcPts val="6900"/>
              </a:lnSpc>
            </a:pPr>
            <a:r>
              <a:rPr lang="en-US" sz="5500">
                <a:solidFill>
                  <a:srgbClr val="3F6FF3"/>
                </a:solidFill>
                <a:latin typeface="Arimo"/>
                <a:ea typeface="Arimo"/>
                <a:cs typeface="Arimo"/>
                <a:sym typeface="Arimo"/>
              </a:rPr>
              <a:t>Upload Image</a:t>
            </a:r>
          </a:p>
        </p:txBody>
      </p:sp>
      <p:grpSp>
        <p:nvGrpSpPr>
          <p:cNvPr id="7" name="Group 7"/>
          <p:cNvGrpSpPr/>
          <p:nvPr/>
        </p:nvGrpSpPr>
        <p:grpSpPr>
          <a:xfrm>
            <a:off x="2135191" y="1575883"/>
            <a:ext cx="14017628" cy="8312544"/>
            <a:chOff x="0" y="0"/>
            <a:chExt cx="18690171" cy="11083392"/>
          </a:xfrm>
        </p:grpSpPr>
        <p:sp>
          <p:nvSpPr>
            <p:cNvPr id="8" name="Freeform 8"/>
            <p:cNvSpPr/>
            <p:nvPr/>
          </p:nvSpPr>
          <p:spPr>
            <a:xfrm>
              <a:off x="0" y="0"/>
              <a:ext cx="18690210" cy="11083417"/>
            </a:xfrm>
            <a:custGeom>
              <a:avLst/>
              <a:gdLst/>
              <a:ahLst/>
              <a:cxnLst/>
              <a:rect l="l" t="t" r="r" b="b"/>
              <a:pathLst>
                <a:path w="18690210" h="11083417">
                  <a:moveTo>
                    <a:pt x="0" y="0"/>
                  </a:moveTo>
                  <a:lnTo>
                    <a:pt x="18690210" y="0"/>
                  </a:lnTo>
                  <a:lnTo>
                    <a:pt x="18690210" y="11083417"/>
                  </a:lnTo>
                  <a:lnTo>
                    <a:pt x="0" y="11083417"/>
                  </a:lnTo>
                  <a:lnTo>
                    <a:pt x="0" y="0"/>
                  </a:lnTo>
                  <a:close/>
                </a:path>
              </a:pathLst>
            </a:custGeom>
            <a:blipFill>
              <a:blip r:embed="rId4"/>
              <a:stretch>
                <a:fillRect b="-336"/>
              </a:stretch>
            </a:blipFill>
          </p:spPr>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16042"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5257800" y="570270"/>
            <a:ext cx="6820386" cy="824200"/>
          </a:xfrm>
          <a:prstGeom prst="rect">
            <a:avLst/>
          </a:prstGeom>
        </p:spPr>
        <p:txBody>
          <a:bodyPr wrap="square" lIns="0" tIns="0" rIns="0" bIns="0" rtlCol="0" anchor="t">
            <a:spAutoFit/>
          </a:bodyPr>
          <a:lstStyle/>
          <a:p>
            <a:pPr algn="ctr">
              <a:lnSpc>
                <a:spcPts val="6900"/>
              </a:lnSpc>
            </a:pPr>
            <a:r>
              <a:rPr lang="en-US" sz="5500" dirty="0">
                <a:solidFill>
                  <a:srgbClr val="3F6FF3"/>
                </a:solidFill>
                <a:latin typeface="Arimo"/>
                <a:ea typeface="Arimo"/>
                <a:cs typeface="Arimo"/>
                <a:sym typeface="Arimo"/>
              </a:rPr>
              <a:t>Realtime Detection</a:t>
            </a:r>
          </a:p>
        </p:txBody>
      </p:sp>
      <p:grpSp>
        <p:nvGrpSpPr>
          <p:cNvPr id="7" name="Group 7"/>
          <p:cNvGrpSpPr/>
          <p:nvPr/>
        </p:nvGrpSpPr>
        <p:grpSpPr>
          <a:xfrm>
            <a:off x="1646234" y="1672285"/>
            <a:ext cx="14995522" cy="7924800"/>
            <a:chOff x="0" y="0"/>
            <a:chExt cx="19994029" cy="10566400"/>
          </a:xfrm>
        </p:grpSpPr>
        <p:sp>
          <p:nvSpPr>
            <p:cNvPr id="8" name="Freeform 8"/>
            <p:cNvSpPr/>
            <p:nvPr/>
          </p:nvSpPr>
          <p:spPr>
            <a:xfrm>
              <a:off x="0" y="0"/>
              <a:ext cx="19993990" cy="10566400"/>
            </a:xfrm>
            <a:custGeom>
              <a:avLst/>
              <a:gdLst/>
              <a:ahLst/>
              <a:cxnLst/>
              <a:rect l="l" t="t" r="r" b="b"/>
              <a:pathLst>
                <a:path w="19993990" h="10566400">
                  <a:moveTo>
                    <a:pt x="0" y="0"/>
                  </a:moveTo>
                  <a:lnTo>
                    <a:pt x="19993990" y="0"/>
                  </a:lnTo>
                  <a:lnTo>
                    <a:pt x="19993990" y="10566400"/>
                  </a:lnTo>
                  <a:lnTo>
                    <a:pt x="0" y="10566400"/>
                  </a:lnTo>
                  <a:lnTo>
                    <a:pt x="0" y="0"/>
                  </a:lnTo>
                  <a:close/>
                </a:path>
              </a:pathLst>
            </a:custGeom>
            <a:blipFill>
              <a:blip r:embed="rId4"/>
              <a:stretch>
                <a:fillRect b="-57"/>
              </a:stretch>
            </a:blipFill>
          </p:spPr>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6362214" y="623240"/>
            <a:ext cx="5563572" cy="952652"/>
          </a:xfrm>
          <a:prstGeom prst="rect">
            <a:avLst/>
          </a:prstGeom>
        </p:spPr>
        <p:txBody>
          <a:bodyPr lIns="0" tIns="0" rIns="0" bIns="0" rtlCol="0" anchor="t">
            <a:spAutoFit/>
          </a:bodyPr>
          <a:lstStyle/>
          <a:p>
            <a:pPr algn="ctr">
              <a:lnSpc>
                <a:spcPts val="6900"/>
              </a:lnSpc>
            </a:pPr>
            <a:r>
              <a:rPr lang="en-US" sz="5500">
                <a:solidFill>
                  <a:srgbClr val="3F6FF3"/>
                </a:solidFill>
                <a:latin typeface="Arimo"/>
                <a:ea typeface="Arimo"/>
                <a:cs typeface="Arimo"/>
                <a:sym typeface="Arimo"/>
              </a:rPr>
              <a:t>Face Not Found</a:t>
            </a:r>
          </a:p>
        </p:txBody>
      </p:sp>
      <p:grpSp>
        <p:nvGrpSpPr>
          <p:cNvPr id="7" name="Group 7"/>
          <p:cNvGrpSpPr/>
          <p:nvPr/>
        </p:nvGrpSpPr>
        <p:grpSpPr>
          <a:xfrm>
            <a:off x="1371600" y="1575883"/>
            <a:ext cx="15544800" cy="7654928"/>
            <a:chOff x="0" y="0"/>
            <a:chExt cx="20726400" cy="10206571"/>
          </a:xfrm>
        </p:grpSpPr>
        <p:sp>
          <p:nvSpPr>
            <p:cNvPr id="8" name="Freeform 8"/>
            <p:cNvSpPr/>
            <p:nvPr/>
          </p:nvSpPr>
          <p:spPr>
            <a:xfrm>
              <a:off x="0" y="0"/>
              <a:ext cx="20726400" cy="10206609"/>
            </a:xfrm>
            <a:custGeom>
              <a:avLst/>
              <a:gdLst/>
              <a:ahLst/>
              <a:cxnLst/>
              <a:rect l="l" t="t" r="r" b="b"/>
              <a:pathLst>
                <a:path w="20726400" h="10206609">
                  <a:moveTo>
                    <a:pt x="0" y="0"/>
                  </a:moveTo>
                  <a:lnTo>
                    <a:pt x="20726400" y="0"/>
                  </a:lnTo>
                  <a:lnTo>
                    <a:pt x="20726400" y="10206609"/>
                  </a:lnTo>
                  <a:lnTo>
                    <a:pt x="0" y="10206609"/>
                  </a:lnTo>
                  <a:lnTo>
                    <a:pt x="0" y="0"/>
                  </a:lnTo>
                  <a:close/>
                </a:path>
              </a:pathLst>
            </a:custGeom>
            <a:blipFill>
              <a:blip r:embed="rId4"/>
              <a:stretch>
                <a:fillRect r="-51"/>
              </a:stretch>
            </a:blipFill>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5181600" y="499528"/>
            <a:ext cx="7620000" cy="824200"/>
          </a:xfrm>
          <a:prstGeom prst="rect">
            <a:avLst/>
          </a:prstGeom>
        </p:spPr>
        <p:txBody>
          <a:bodyPr wrap="square" lIns="0" tIns="0" rIns="0" bIns="0" rtlCol="0" anchor="t">
            <a:spAutoFit/>
          </a:bodyPr>
          <a:lstStyle/>
          <a:p>
            <a:pPr algn="ctr">
              <a:lnSpc>
                <a:spcPts val="6900"/>
              </a:lnSpc>
            </a:pPr>
            <a:r>
              <a:rPr lang="en-US" sz="5500" dirty="0">
                <a:solidFill>
                  <a:srgbClr val="3F6FF3"/>
                </a:solidFill>
                <a:latin typeface="Arimo"/>
                <a:ea typeface="Arimo"/>
                <a:cs typeface="Arimo"/>
                <a:sym typeface="Arimo"/>
              </a:rPr>
              <a:t>Camera Not Available</a:t>
            </a:r>
          </a:p>
        </p:txBody>
      </p:sp>
      <p:grpSp>
        <p:nvGrpSpPr>
          <p:cNvPr id="7" name="Group 7"/>
          <p:cNvGrpSpPr/>
          <p:nvPr/>
        </p:nvGrpSpPr>
        <p:grpSpPr>
          <a:xfrm>
            <a:off x="1754772" y="1823256"/>
            <a:ext cx="14778447" cy="8189728"/>
            <a:chOff x="0" y="0"/>
            <a:chExt cx="19704596" cy="10919638"/>
          </a:xfrm>
        </p:grpSpPr>
        <p:sp>
          <p:nvSpPr>
            <p:cNvPr id="8" name="Freeform 8"/>
            <p:cNvSpPr/>
            <p:nvPr/>
          </p:nvSpPr>
          <p:spPr>
            <a:xfrm>
              <a:off x="0" y="0"/>
              <a:ext cx="19704558" cy="10919587"/>
            </a:xfrm>
            <a:custGeom>
              <a:avLst/>
              <a:gdLst/>
              <a:ahLst/>
              <a:cxnLst/>
              <a:rect l="l" t="t" r="r" b="b"/>
              <a:pathLst>
                <a:path w="19704558" h="10919587">
                  <a:moveTo>
                    <a:pt x="0" y="0"/>
                  </a:moveTo>
                  <a:lnTo>
                    <a:pt x="19704558" y="0"/>
                  </a:lnTo>
                  <a:lnTo>
                    <a:pt x="19704558" y="10919587"/>
                  </a:lnTo>
                  <a:lnTo>
                    <a:pt x="0" y="10919587"/>
                  </a:lnTo>
                  <a:lnTo>
                    <a:pt x="0" y="0"/>
                  </a:lnTo>
                  <a:close/>
                </a:path>
              </a:pathLst>
            </a:custGeom>
            <a:blipFill>
              <a:blip r:embed="rId4"/>
              <a:stretch>
                <a:fillRect b="-221"/>
              </a:stretch>
            </a:blipFill>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6362214" y="623240"/>
            <a:ext cx="5563572" cy="952652"/>
          </a:xfrm>
          <a:prstGeom prst="rect">
            <a:avLst/>
          </a:prstGeom>
        </p:spPr>
        <p:txBody>
          <a:bodyPr lIns="0" tIns="0" rIns="0" bIns="0" rtlCol="0" anchor="t">
            <a:spAutoFit/>
          </a:bodyPr>
          <a:lstStyle/>
          <a:p>
            <a:pPr algn="ctr">
              <a:lnSpc>
                <a:spcPts val="6900"/>
              </a:lnSpc>
            </a:pPr>
            <a:r>
              <a:rPr lang="en-US" sz="5500">
                <a:solidFill>
                  <a:srgbClr val="3F6FF3"/>
                </a:solidFill>
                <a:latin typeface="Arimo"/>
                <a:ea typeface="Arimo"/>
                <a:cs typeface="Arimo"/>
                <a:sym typeface="Arimo"/>
              </a:rPr>
              <a:t>Admin Login</a:t>
            </a:r>
          </a:p>
        </p:txBody>
      </p:sp>
      <p:grpSp>
        <p:nvGrpSpPr>
          <p:cNvPr id="7" name="Group 7"/>
          <p:cNvGrpSpPr/>
          <p:nvPr/>
        </p:nvGrpSpPr>
        <p:grpSpPr>
          <a:xfrm>
            <a:off x="2339340" y="1575883"/>
            <a:ext cx="13609320" cy="8391211"/>
            <a:chOff x="0" y="0"/>
            <a:chExt cx="18145760" cy="11188281"/>
          </a:xfrm>
        </p:grpSpPr>
        <p:sp>
          <p:nvSpPr>
            <p:cNvPr id="8" name="Freeform 8"/>
            <p:cNvSpPr/>
            <p:nvPr/>
          </p:nvSpPr>
          <p:spPr>
            <a:xfrm>
              <a:off x="0" y="0"/>
              <a:ext cx="18145761" cy="11188319"/>
            </a:xfrm>
            <a:custGeom>
              <a:avLst/>
              <a:gdLst/>
              <a:ahLst/>
              <a:cxnLst/>
              <a:rect l="l" t="t" r="r" b="b"/>
              <a:pathLst>
                <a:path w="18145761" h="11188319">
                  <a:moveTo>
                    <a:pt x="0" y="0"/>
                  </a:moveTo>
                  <a:lnTo>
                    <a:pt x="18145761" y="0"/>
                  </a:lnTo>
                  <a:lnTo>
                    <a:pt x="18145761" y="11188319"/>
                  </a:lnTo>
                  <a:lnTo>
                    <a:pt x="0" y="11188319"/>
                  </a:lnTo>
                  <a:lnTo>
                    <a:pt x="0" y="0"/>
                  </a:lnTo>
                  <a:close/>
                </a:path>
              </a:pathLst>
            </a:custGeom>
            <a:blipFill>
              <a:blip r:embed="rId4"/>
              <a:stretch>
                <a:fillRect b="-23"/>
              </a:stretch>
            </a:blipFill>
          </p:spPr>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5009907" y="663998"/>
            <a:ext cx="8268186" cy="824200"/>
          </a:xfrm>
          <a:prstGeom prst="rect">
            <a:avLst/>
          </a:prstGeom>
        </p:spPr>
        <p:txBody>
          <a:bodyPr wrap="square" lIns="0" tIns="0" rIns="0" bIns="0" rtlCol="0" anchor="t">
            <a:spAutoFit/>
          </a:bodyPr>
          <a:lstStyle/>
          <a:p>
            <a:pPr algn="ctr">
              <a:lnSpc>
                <a:spcPts val="6900"/>
              </a:lnSpc>
            </a:pPr>
            <a:r>
              <a:rPr lang="en-US" sz="5500" dirty="0">
                <a:solidFill>
                  <a:srgbClr val="3F6FF3"/>
                </a:solidFill>
                <a:latin typeface="Arimo"/>
                <a:ea typeface="Arimo"/>
                <a:cs typeface="Arimo"/>
                <a:sym typeface="Arimo"/>
              </a:rPr>
              <a:t>Admin View Detections</a:t>
            </a:r>
          </a:p>
        </p:txBody>
      </p:sp>
      <p:grpSp>
        <p:nvGrpSpPr>
          <p:cNvPr id="7" name="Group 7"/>
          <p:cNvGrpSpPr/>
          <p:nvPr/>
        </p:nvGrpSpPr>
        <p:grpSpPr>
          <a:xfrm>
            <a:off x="1592580" y="1823256"/>
            <a:ext cx="15102840" cy="8146771"/>
            <a:chOff x="0" y="0"/>
            <a:chExt cx="20137120" cy="10862361"/>
          </a:xfrm>
        </p:grpSpPr>
        <p:sp>
          <p:nvSpPr>
            <p:cNvPr id="8" name="Freeform 8"/>
            <p:cNvSpPr/>
            <p:nvPr/>
          </p:nvSpPr>
          <p:spPr>
            <a:xfrm>
              <a:off x="0" y="0"/>
              <a:ext cx="20137120" cy="10862310"/>
            </a:xfrm>
            <a:custGeom>
              <a:avLst/>
              <a:gdLst/>
              <a:ahLst/>
              <a:cxnLst/>
              <a:rect l="l" t="t" r="r" b="b"/>
              <a:pathLst>
                <a:path w="20137120" h="10862310">
                  <a:moveTo>
                    <a:pt x="0" y="0"/>
                  </a:moveTo>
                  <a:lnTo>
                    <a:pt x="20137120" y="0"/>
                  </a:lnTo>
                  <a:lnTo>
                    <a:pt x="20137120" y="10862310"/>
                  </a:lnTo>
                  <a:lnTo>
                    <a:pt x="0" y="10862310"/>
                  </a:lnTo>
                  <a:lnTo>
                    <a:pt x="0" y="0"/>
                  </a:lnTo>
                  <a:close/>
                </a:path>
              </a:pathLst>
            </a:custGeom>
            <a:blipFill>
              <a:blip r:embed="rId4"/>
              <a:stretch>
                <a:fillRect r="-46"/>
              </a:stretch>
            </a:blipFill>
          </p:spPr>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247907" y="615798"/>
            <a:ext cx="9792186" cy="824200"/>
          </a:xfrm>
          <a:prstGeom prst="rect">
            <a:avLst/>
          </a:prstGeom>
        </p:spPr>
        <p:txBody>
          <a:bodyPr wrap="square" lIns="0" tIns="0" rIns="0" bIns="0" rtlCol="0" anchor="t">
            <a:spAutoFit/>
          </a:bodyPr>
          <a:lstStyle/>
          <a:p>
            <a:pPr algn="ctr">
              <a:lnSpc>
                <a:spcPts val="6900"/>
              </a:lnSpc>
            </a:pPr>
            <a:r>
              <a:rPr lang="en-US" sz="5500" dirty="0">
                <a:solidFill>
                  <a:srgbClr val="3F6FF3"/>
                </a:solidFill>
                <a:latin typeface="Arimo"/>
                <a:ea typeface="Arimo"/>
                <a:cs typeface="Arimo"/>
                <a:sym typeface="Arimo"/>
              </a:rPr>
              <a:t>Logical Model/Class Diagram</a:t>
            </a:r>
          </a:p>
        </p:txBody>
      </p:sp>
      <p:grpSp>
        <p:nvGrpSpPr>
          <p:cNvPr id="7" name="Group 7"/>
          <p:cNvGrpSpPr/>
          <p:nvPr/>
        </p:nvGrpSpPr>
        <p:grpSpPr>
          <a:xfrm>
            <a:off x="3619500" y="2011680"/>
            <a:ext cx="11049000" cy="7115089"/>
            <a:chOff x="0" y="0"/>
            <a:chExt cx="14732000" cy="9486786"/>
          </a:xfrm>
        </p:grpSpPr>
        <p:sp>
          <p:nvSpPr>
            <p:cNvPr id="8" name="Freeform 8"/>
            <p:cNvSpPr/>
            <p:nvPr/>
          </p:nvSpPr>
          <p:spPr>
            <a:xfrm>
              <a:off x="0" y="0"/>
              <a:ext cx="14732000" cy="9486773"/>
            </a:xfrm>
            <a:custGeom>
              <a:avLst/>
              <a:gdLst/>
              <a:ahLst/>
              <a:cxnLst/>
              <a:rect l="l" t="t" r="r" b="b"/>
              <a:pathLst>
                <a:path w="14732000" h="9486773">
                  <a:moveTo>
                    <a:pt x="0" y="0"/>
                  </a:moveTo>
                  <a:lnTo>
                    <a:pt x="14732000" y="0"/>
                  </a:lnTo>
                  <a:lnTo>
                    <a:pt x="14732000" y="9486773"/>
                  </a:lnTo>
                  <a:lnTo>
                    <a:pt x="0" y="9486773"/>
                  </a:lnTo>
                  <a:lnTo>
                    <a:pt x="0" y="0"/>
                  </a:lnTo>
                  <a:close/>
                </a:path>
              </a:pathLst>
            </a:custGeom>
            <a:blipFill>
              <a:blip r:embed="rId4"/>
              <a:stretch>
                <a:fillRect r="-223"/>
              </a:stretch>
            </a:blipFill>
          </p:spPr>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438407" y="593120"/>
            <a:ext cx="9411186" cy="824200"/>
          </a:xfrm>
          <a:prstGeom prst="rect">
            <a:avLst/>
          </a:prstGeom>
        </p:spPr>
        <p:txBody>
          <a:bodyPr wrap="square" lIns="0" tIns="0" rIns="0" bIns="0" rtlCol="0" anchor="t">
            <a:spAutoFit/>
          </a:bodyPr>
          <a:lstStyle/>
          <a:p>
            <a:pPr algn="ctr">
              <a:lnSpc>
                <a:spcPts val="6900"/>
              </a:lnSpc>
            </a:pPr>
            <a:r>
              <a:rPr lang="en-US" sz="5500" dirty="0">
                <a:solidFill>
                  <a:srgbClr val="3F6FF3"/>
                </a:solidFill>
                <a:latin typeface="Arimo"/>
                <a:ea typeface="Arimo"/>
                <a:cs typeface="Arimo"/>
                <a:sym typeface="Arimo"/>
              </a:rPr>
              <a:t>Entity-Relationship Diagram</a:t>
            </a:r>
          </a:p>
        </p:txBody>
      </p:sp>
      <p:grpSp>
        <p:nvGrpSpPr>
          <p:cNvPr id="7" name="Group 7"/>
          <p:cNvGrpSpPr/>
          <p:nvPr/>
        </p:nvGrpSpPr>
        <p:grpSpPr>
          <a:xfrm>
            <a:off x="577844" y="2834640"/>
            <a:ext cx="17132303" cy="5857875"/>
            <a:chOff x="0" y="0"/>
            <a:chExt cx="22843071" cy="7810500"/>
          </a:xfrm>
        </p:grpSpPr>
        <p:sp>
          <p:nvSpPr>
            <p:cNvPr id="8" name="Freeform 8"/>
            <p:cNvSpPr/>
            <p:nvPr/>
          </p:nvSpPr>
          <p:spPr>
            <a:xfrm>
              <a:off x="0" y="0"/>
              <a:ext cx="22843110" cy="7810500"/>
            </a:xfrm>
            <a:custGeom>
              <a:avLst/>
              <a:gdLst/>
              <a:ahLst/>
              <a:cxnLst/>
              <a:rect l="l" t="t" r="r" b="b"/>
              <a:pathLst>
                <a:path w="22843110" h="7810500">
                  <a:moveTo>
                    <a:pt x="0" y="0"/>
                  </a:moveTo>
                  <a:lnTo>
                    <a:pt x="22843110" y="0"/>
                  </a:lnTo>
                  <a:lnTo>
                    <a:pt x="22843110" y="7810500"/>
                  </a:lnTo>
                  <a:lnTo>
                    <a:pt x="0" y="7810500"/>
                  </a:lnTo>
                  <a:lnTo>
                    <a:pt x="0" y="0"/>
                  </a:lnTo>
                  <a:close/>
                </a:path>
              </a:pathLst>
            </a:custGeom>
            <a:blipFill>
              <a:blip r:embed="rId4"/>
              <a:stretch>
                <a:fillRect b="-89"/>
              </a:stretch>
            </a:blipFill>
          </p:spPr>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5657606" y="723900"/>
            <a:ext cx="6972786" cy="824200"/>
          </a:xfrm>
          <a:prstGeom prst="rect">
            <a:avLst/>
          </a:prstGeom>
        </p:spPr>
        <p:txBody>
          <a:bodyPr wrap="square" lIns="0" tIns="0" rIns="0" bIns="0" rtlCol="0" anchor="t">
            <a:spAutoFit/>
          </a:bodyPr>
          <a:lstStyle/>
          <a:p>
            <a:pPr algn="ctr">
              <a:lnSpc>
                <a:spcPts val="6900"/>
              </a:lnSpc>
            </a:pPr>
            <a:r>
              <a:rPr lang="en-US" sz="5500" dirty="0">
                <a:solidFill>
                  <a:srgbClr val="3F6FF3"/>
                </a:solidFill>
                <a:latin typeface="Arimo"/>
                <a:ea typeface="Arimo"/>
                <a:cs typeface="Arimo"/>
                <a:sym typeface="Arimo"/>
              </a:rPr>
              <a:t>Database Diagram</a:t>
            </a:r>
          </a:p>
        </p:txBody>
      </p:sp>
      <p:grpSp>
        <p:nvGrpSpPr>
          <p:cNvPr id="7" name="Group 7"/>
          <p:cNvGrpSpPr/>
          <p:nvPr/>
        </p:nvGrpSpPr>
        <p:grpSpPr>
          <a:xfrm>
            <a:off x="1013460" y="1819732"/>
            <a:ext cx="16261080" cy="8001629"/>
            <a:chOff x="0" y="0"/>
            <a:chExt cx="21681440" cy="10668838"/>
          </a:xfrm>
        </p:grpSpPr>
        <p:sp>
          <p:nvSpPr>
            <p:cNvPr id="8" name="Freeform 8"/>
            <p:cNvSpPr/>
            <p:nvPr/>
          </p:nvSpPr>
          <p:spPr>
            <a:xfrm>
              <a:off x="0" y="0"/>
              <a:ext cx="21681439" cy="10668889"/>
            </a:xfrm>
            <a:custGeom>
              <a:avLst/>
              <a:gdLst/>
              <a:ahLst/>
              <a:cxnLst/>
              <a:rect l="l" t="t" r="r" b="b"/>
              <a:pathLst>
                <a:path w="21681439" h="10668889">
                  <a:moveTo>
                    <a:pt x="0" y="0"/>
                  </a:moveTo>
                  <a:lnTo>
                    <a:pt x="21681439" y="0"/>
                  </a:lnTo>
                  <a:lnTo>
                    <a:pt x="21681439" y="10668889"/>
                  </a:lnTo>
                  <a:lnTo>
                    <a:pt x="0" y="10668889"/>
                  </a:lnTo>
                  <a:lnTo>
                    <a:pt x="0" y="0"/>
                  </a:lnTo>
                  <a:close/>
                </a:path>
              </a:pathLst>
            </a:custGeom>
            <a:blipFill>
              <a:blip r:embed="rId4"/>
              <a:stretch>
                <a:fillRect b="-63"/>
              </a:stretch>
            </a:blipFill>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8706955" y="5534025"/>
            <a:ext cx="8377085" cy="495452"/>
          </a:xfrm>
          <a:prstGeom prst="rect">
            <a:avLst/>
          </a:prstGeom>
        </p:spPr>
        <p:txBody>
          <a:bodyPr lIns="0" tIns="0" rIns="0" bIns="0" rtlCol="0" anchor="t">
            <a:spAutoFit/>
          </a:bodyPr>
          <a:lstStyle/>
          <a:p>
            <a:pPr algn="l">
              <a:lnSpc>
                <a:spcPts val="6900"/>
              </a:lnSpc>
            </a:pPr>
            <a:r>
              <a:rPr lang="en-US" sz="9600">
                <a:solidFill>
                  <a:srgbClr val="3F6FF3"/>
                </a:solidFill>
                <a:latin typeface="Arimo"/>
                <a:ea typeface="Arimo"/>
                <a:cs typeface="Arimo"/>
                <a:sym typeface="Arimo"/>
              </a:rPr>
              <a:t>User Interfaces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541520" y="158925"/>
            <a:ext cx="8961120" cy="1112520"/>
          </a:xfrm>
          <a:prstGeom prst="rect">
            <a:avLst/>
          </a:prstGeom>
        </p:spPr>
        <p:txBody>
          <a:bodyPr lIns="0" tIns="0" rIns="0" bIns="0" rtlCol="0" anchor="t">
            <a:spAutoFit/>
          </a:bodyPr>
          <a:lstStyle/>
          <a:p>
            <a:pPr algn="ctr">
              <a:lnSpc>
                <a:spcPts val="6900"/>
              </a:lnSpc>
            </a:pPr>
            <a:r>
              <a:rPr lang="en-US" sz="4000" dirty="0">
                <a:solidFill>
                  <a:srgbClr val="3F6FF3"/>
                </a:solidFill>
                <a:latin typeface="Arimo"/>
                <a:ea typeface="Arimo"/>
                <a:cs typeface="Arimo"/>
                <a:sym typeface="Arimo"/>
              </a:rPr>
              <a:t>WebApp Main Interface </a:t>
            </a:r>
          </a:p>
        </p:txBody>
      </p:sp>
      <p:grpSp>
        <p:nvGrpSpPr>
          <p:cNvPr id="7" name="Group 7"/>
          <p:cNvGrpSpPr/>
          <p:nvPr/>
        </p:nvGrpSpPr>
        <p:grpSpPr>
          <a:xfrm>
            <a:off x="1207627" y="1726711"/>
            <a:ext cx="15628906" cy="7162800"/>
            <a:chOff x="0" y="0"/>
            <a:chExt cx="20838541" cy="9550400"/>
          </a:xfrm>
        </p:grpSpPr>
        <p:sp>
          <p:nvSpPr>
            <p:cNvPr id="8" name="Freeform 8"/>
            <p:cNvSpPr/>
            <p:nvPr/>
          </p:nvSpPr>
          <p:spPr>
            <a:xfrm>
              <a:off x="0" y="0"/>
              <a:ext cx="20838540" cy="9550400"/>
            </a:xfrm>
            <a:custGeom>
              <a:avLst/>
              <a:gdLst/>
              <a:ahLst/>
              <a:cxnLst/>
              <a:rect l="l" t="t" r="r" b="b"/>
              <a:pathLst>
                <a:path w="20838540" h="9550400">
                  <a:moveTo>
                    <a:pt x="0" y="0"/>
                  </a:moveTo>
                  <a:lnTo>
                    <a:pt x="20838540" y="0"/>
                  </a:lnTo>
                  <a:lnTo>
                    <a:pt x="20838540" y="9550400"/>
                  </a:lnTo>
                  <a:lnTo>
                    <a:pt x="0" y="9550400"/>
                  </a:lnTo>
                  <a:lnTo>
                    <a:pt x="0" y="0"/>
                  </a:lnTo>
                  <a:close/>
                </a:path>
              </a:pathLst>
            </a:custGeom>
            <a:blipFill>
              <a:blip r:embed="rId4"/>
              <a:stretch>
                <a:fillRect b="-180"/>
              </a:stretch>
            </a:blipFill>
          </p:spPr>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541520" y="158925"/>
            <a:ext cx="8961120" cy="1112520"/>
          </a:xfrm>
          <a:prstGeom prst="rect">
            <a:avLst/>
          </a:prstGeom>
        </p:spPr>
        <p:txBody>
          <a:bodyPr lIns="0" tIns="0" rIns="0" bIns="0" rtlCol="0" anchor="t">
            <a:spAutoFit/>
          </a:bodyPr>
          <a:lstStyle/>
          <a:p>
            <a:pPr algn="ctr">
              <a:lnSpc>
                <a:spcPts val="6900"/>
              </a:lnSpc>
            </a:pPr>
            <a:r>
              <a:rPr lang="en-US" sz="4000">
                <a:solidFill>
                  <a:srgbClr val="3F6FF3"/>
                </a:solidFill>
                <a:latin typeface="Arimo"/>
                <a:ea typeface="Arimo"/>
                <a:cs typeface="Arimo"/>
                <a:sym typeface="Arimo"/>
              </a:rPr>
              <a:t>Upload Image for Detection</a:t>
            </a:r>
          </a:p>
        </p:txBody>
      </p:sp>
      <p:grpSp>
        <p:nvGrpSpPr>
          <p:cNvPr id="7" name="Group 7"/>
          <p:cNvGrpSpPr/>
          <p:nvPr/>
        </p:nvGrpSpPr>
        <p:grpSpPr>
          <a:xfrm>
            <a:off x="1586227" y="1866900"/>
            <a:ext cx="14871697" cy="6553200"/>
            <a:chOff x="0" y="0"/>
            <a:chExt cx="19828929" cy="8737600"/>
          </a:xfrm>
        </p:grpSpPr>
        <p:sp>
          <p:nvSpPr>
            <p:cNvPr id="8" name="Freeform 8"/>
            <p:cNvSpPr/>
            <p:nvPr/>
          </p:nvSpPr>
          <p:spPr>
            <a:xfrm>
              <a:off x="0" y="0"/>
              <a:ext cx="19828890" cy="8737600"/>
            </a:xfrm>
            <a:custGeom>
              <a:avLst/>
              <a:gdLst/>
              <a:ahLst/>
              <a:cxnLst/>
              <a:rect l="l" t="t" r="r" b="b"/>
              <a:pathLst>
                <a:path w="19828890" h="8737600">
                  <a:moveTo>
                    <a:pt x="0" y="0"/>
                  </a:moveTo>
                  <a:lnTo>
                    <a:pt x="19828890" y="0"/>
                  </a:lnTo>
                  <a:lnTo>
                    <a:pt x="19828890" y="8737600"/>
                  </a:lnTo>
                  <a:lnTo>
                    <a:pt x="0" y="8737600"/>
                  </a:lnTo>
                  <a:lnTo>
                    <a:pt x="0" y="0"/>
                  </a:lnTo>
                  <a:close/>
                </a:path>
              </a:pathLst>
            </a:custGeom>
            <a:blipFill>
              <a:blip r:embed="rId4"/>
              <a:stretch>
                <a:fillRect r="-23"/>
              </a:stretch>
            </a:blipFill>
          </p:spPr>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541520" y="158925"/>
            <a:ext cx="8961120" cy="1112520"/>
          </a:xfrm>
          <a:prstGeom prst="rect">
            <a:avLst/>
          </a:prstGeom>
        </p:spPr>
        <p:txBody>
          <a:bodyPr lIns="0" tIns="0" rIns="0" bIns="0" rtlCol="0" anchor="t">
            <a:spAutoFit/>
          </a:bodyPr>
          <a:lstStyle/>
          <a:p>
            <a:pPr algn="ctr">
              <a:lnSpc>
                <a:spcPts val="6900"/>
              </a:lnSpc>
            </a:pPr>
            <a:r>
              <a:rPr lang="en-US" sz="4000">
                <a:solidFill>
                  <a:srgbClr val="3F6FF3"/>
                </a:solidFill>
                <a:latin typeface="Arimo"/>
                <a:ea typeface="Arimo"/>
                <a:cs typeface="Arimo"/>
                <a:sym typeface="Arimo"/>
              </a:rPr>
              <a:t>Uploaded Image Results</a:t>
            </a:r>
          </a:p>
        </p:txBody>
      </p:sp>
      <p:grpSp>
        <p:nvGrpSpPr>
          <p:cNvPr id="7" name="Group 7"/>
          <p:cNvGrpSpPr/>
          <p:nvPr/>
        </p:nvGrpSpPr>
        <p:grpSpPr>
          <a:xfrm>
            <a:off x="1495406" y="1981200"/>
            <a:ext cx="15297179" cy="7284720"/>
            <a:chOff x="0" y="0"/>
            <a:chExt cx="20396238" cy="9712960"/>
          </a:xfrm>
        </p:grpSpPr>
        <p:sp>
          <p:nvSpPr>
            <p:cNvPr id="8" name="Freeform 8"/>
            <p:cNvSpPr/>
            <p:nvPr/>
          </p:nvSpPr>
          <p:spPr>
            <a:xfrm>
              <a:off x="0" y="0"/>
              <a:ext cx="20396200" cy="9712960"/>
            </a:xfrm>
            <a:custGeom>
              <a:avLst/>
              <a:gdLst/>
              <a:ahLst/>
              <a:cxnLst/>
              <a:rect l="l" t="t" r="r" b="b"/>
              <a:pathLst>
                <a:path w="20396200" h="9712960">
                  <a:moveTo>
                    <a:pt x="0" y="0"/>
                  </a:moveTo>
                  <a:lnTo>
                    <a:pt x="20396200" y="0"/>
                  </a:lnTo>
                  <a:lnTo>
                    <a:pt x="20396200" y="9712960"/>
                  </a:lnTo>
                  <a:lnTo>
                    <a:pt x="0" y="9712960"/>
                  </a:lnTo>
                  <a:lnTo>
                    <a:pt x="0" y="0"/>
                  </a:lnTo>
                  <a:close/>
                </a:path>
              </a:pathLst>
            </a:custGeom>
            <a:blipFill>
              <a:blip r:embed="rId4"/>
              <a:stretch>
                <a:fillRect b="-12"/>
              </a:stretch>
            </a:blipFill>
          </p:spPr>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541520" y="158925"/>
            <a:ext cx="8961120" cy="1112520"/>
          </a:xfrm>
          <a:prstGeom prst="rect">
            <a:avLst/>
          </a:prstGeom>
        </p:spPr>
        <p:txBody>
          <a:bodyPr lIns="0" tIns="0" rIns="0" bIns="0" rtlCol="0" anchor="t">
            <a:spAutoFit/>
          </a:bodyPr>
          <a:lstStyle/>
          <a:p>
            <a:pPr algn="ctr">
              <a:lnSpc>
                <a:spcPts val="6900"/>
              </a:lnSpc>
            </a:pPr>
            <a:r>
              <a:rPr lang="en-US" sz="4000">
                <a:solidFill>
                  <a:srgbClr val="3F6FF3"/>
                </a:solidFill>
                <a:latin typeface="Arimo"/>
                <a:ea typeface="Arimo"/>
                <a:cs typeface="Arimo"/>
                <a:sym typeface="Arimo"/>
              </a:rPr>
              <a:t>Admin Login</a:t>
            </a:r>
          </a:p>
        </p:txBody>
      </p:sp>
      <p:grpSp>
        <p:nvGrpSpPr>
          <p:cNvPr id="7" name="Group 7"/>
          <p:cNvGrpSpPr/>
          <p:nvPr/>
        </p:nvGrpSpPr>
        <p:grpSpPr>
          <a:xfrm>
            <a:off x="1592628" y="2119312"/>
            <a:ext cx="15102745" cy="6902768"/>
            <a:chOff x="0" y="0"/>
            <a:chExt cx="20136993" cy="9203690"/>
          </a:xfrm>
        </p:grpSpPr>
        <p:sp>
          <p:nvSpPr>
            <p:cNvPr id="8" name="Freeform 8"/>
            <p:cNvSpPr/>
            <p:nvPr/>
          </p:nvSpPr>
          <p:spPr>
            <a:xfrm>
              <a:off x="0" y="0"/>
              <a:ext cx="20136993" cy="9203690"/>
            </a:xfrm>
            <a:custGeom>
              <a:avLst/>
              <a:gdLst/>
              <a:ahLst/>
              <a:cxnLst/>
              <a:rect l="l" t="t" r="r" b="b"/>
              <a:pathLst>
                <a:path w="20136993" h="9203690">
                  <a:moveTo>
                    <a:pt x="0" y="0"/>
                  </a:moveTo>
                  <a:lnTo>
                    <a:pt x="20136993" y="0"/>
                  </a:lnTo>
                  <a:lnTo>
                    <a:pt x="20136993" y="9203690"/>
                  </a:lnTo>
                  <a:lnTo>
                    <a:pt x="0" y="9203690"/>
                  </a:lnTo>
                  <a:lnTo>
                    <a:pt x="0" y="0"/>
                  </a:lnTo>
                  <a:close/>
                </a:path>
              </a:pathLst>
            </a:custGeom>
            <a:blipFill>
              <a:blip r:embed="rId4"/>
              <a:stretch>
                <a:fillRect b="-36"/>
              </a:stretch>
            </a:blipFill>
          </p:spPr>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541520" y="158925"/>
            <a:ext cx="8961120" cy="1112520"/>
          </a:xfrm>
          <a:prstGeom prst="rect">
            <a:avLst/>
          </a:prstGeom>
        </p:spPr>
        <p:txBody>
          <a:bodyPr lIns="0" tIns="0" rIns="0" bIns="0" rtlCol="0" anchor="t">
            <a:spAutoFit/>
          </a:bodyPr>
          <a:lstStyle/>
          <a:p>
            <a:pPr algn="ctr">
              <a:lnSpc>
                <a:spcPts val="6900"/>
              </a:lnSpc>
            </a:pPr>
            <a:r>
              <a:rPr lang="en-US" sz="4000">
                <a:solidFill>
                  <a:srgbClr val="3F6FF3"/>
                </a:solidFill>
                <a:latin typeface="Arimo"/>
                <a:ea typeface="Arimo"/>
                <a:cs typeface="Arimo"/>
                <a:sym typeface="Arimo"/>
              </a:rPr>
              <a:t>Admin Dashboard</a:t>
            </a:r>
          </a:p>
        </p:txBody>
      </p:sp>
      <p:grpSp>
        <p:nvGrpSpPr>
          <p:cNvPr id="7" name="Group 7"/>
          <p:cNvGrpSpPr/>
          <p:nvPr/>
        </p:nvGrpSpPr>
        <p:grpSpPr>
          <a:xfrm>
            <a:off x="1828800" y="1866900"/>
            <a:ext cx="14630400" cy="6553200"/>
            <a:chOff x="0" y="0"/>
            <a:chExt cx="19507200" cy="8737600"/>
          </a:xfrm>
        </p:grpSpPr>
        <p:sp>
          <p:nvSpPr>
            <p:cNvPr id="8" name="Freeform 8"/>
            <p:cNvSpPr/>
            <p:nvPr/>
          </p:nvSpPr>
          <p:spPr>
            <a:xfrm>
              <a:off x="0" y="0"/>
              <a:ext cx="19507200" cy="8737600"/>
            </a:xfrm>
            <a:custGeom>
              <a:avLst/>
              <a:gdLst/>
              <a:ahLst/>
              <a:cxnLst/>
              <a:rect l="l" t="t" r="r" b="b"/>
              <a:pathLst>
                <a:path w="19507200" h="8737600">
                  <a:moveTo>
                    <a:pt x="0" y="0"/>
                  </a:moveTo>
                  <a:lnTo>
                    <a:pt x="19507200" y="0"/>
                  </a:lnTo>
                  <a:lnTo>
                    <a:pt x="19507200" y="8737600"/>
                  </a:lnTo>
                  <a:lnTo>
                    <a:pt x="0" y="8737600"/>
                  </a:lnTo>
                  <a:lnTo>
                    <a:pt x="0" y="0"/>
                  </a:lnTo>
                  <a:close/>
                </a:path>
              </a:pathLst>
            </a:custGeom>
            <a:blipFill>
              <a:blip r:embed="rId4"/>
              <a:stretch>
                <a:fillRect r="-22"/>
              </a:stretch>
            </a:blipFill>
          </p:spPr>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6" name="TextBox 6"/>
          <p:cNvSpPr txBox="1"/>
          <p:nvPr/>
        </p:nvSpPr>
        <p:spPr>
          <a:xfrm>
            <a:off x="4541520" y="158925"/>
            <a:ext cx="8961120" cy="1112520"/>
          </a:xfrm>
          <a:prstGeom prst="rect">
            <a:avLst/>
          </a:prstGeom>
        </p:spPr>
        <p:txBody>
          <a:bodyPr lIns="0" tIns="0" rIns="0" bIns="0" rtlCol="0" anchor="t">
            <a:spAutoFit/>
          </a:bodyPr>
          <a:lstStyle/>
          <a:p>
            <a:pPr algn="ctr">
              <a:lnSpc>
                <a:spcPts val="6900"/>
              </a:lnSpc>
            </a:pPr>
            <a:r>
              <a:rPr lang="en-US" sz="4000">
                <a:solidFill>
                  <a:srgbClr val="3F6FF3"/>
                </a:solidFill>
                <a:latin typeface="Arimo"/>
                <a:ea typeface="Arimo"/>
                <a:cs typeface="Arimo"/>
                <a:sym typeface="Arimo"/>
              </a:rPr>
              <a:t>Desktop App Interface</a:t>
            </a:r>
          </a:p>
        </p:txBody>
      </p:sp>
      <p:grpSp>
        <p:nvGrpSpPr>
          <p:cNvPr id="7" name="Group 7"/>
          <p:cNvGrpSpPr/>
          <p:nvPr/>
        </p:nvGrpSpPr>
        <p:grpSpPr>
          <a:xfrm>
            <a:off x="1874520" y="1345787"/>
            <a:ext cx="14538960" cy="7595435"/>
            <a:chOff x="0" y="0"/>
            <a:chExt cx="19385280" cy="10127247"/>
          </a:xfrm>
        </p:grpSpPr>
        <p:sp>
          <p:nvSpPr>
            <p:cNvPr id="8" name="Freeform 8"/>
            <p:cNvSpPr/>
            <p:nvPr/>
          </p:nvSpPr>
          <p:spPr>
            <a:xfrm>
              <a:off x="0" y="0"/>
              <a:ext cx="19385280" cy="10127234"/>
            </a:xfrm>
            <a:custGeom>
              <a:avLst/>
              <a:gdLst/>
              <a:ahLst/>
              <a:cxnLst/>
              <a:rect l="l" t="t" r="r" b="b"/>
              <a:pathLst>
                <a:path w="19385280" h="10127234">
                  <a:moveTo>
                    <a:pt x="0" y="0"/>
                  </a:moveTo>
                  <a:lnTo>
                    <a:pt x="19385280" y="0"/>
                  </a:lnTo>
                  <a:lnTo>
                    <a:pt x="19385280" y="10127234"/>
                  </a:lnTo>
                  <a:lnTo>
                    <a:pt x="0" y="10127234"/>
                  </a:lnTo>
                  <a:lnTo>
                    <a:pt x="0" y="0"/>
                  </a:lnTo>
                  <a:close/>
                </a:path>
              </a:pathLst>
            </a:custGeom>
            <a:blipFill>
              <a:blip r:embed="rId4"/>
              <a:stretch>
                <a:fillRect/>
              </a:stretch>
            </a:blipFill>
          </p:spPr>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grpSp>
        <p:nvGrpSpPr>
          <p:cNvPr id="6" name="Group 6"/>
          <p:cNvGrpSpPr/>
          <p:nvPr/>
        </p:nvGrpSpPr>
        <p:grpSpPr>
          <a:xfrm>
            <a:off x="16058359" y="9688982"/>
            <a:ext cx="2143687" cy="512064"/>
            <a:chOff x="0" y="0"/>
            <a:chExt cx="2858249" cy="682752"/>
          </a:xfrm>
        </p:grpSpPr>
        <p:sp>
          <p:nvSpPr>
            <p:cNvPr id="7" name="Freeform 7" descr="preencoded.png">
              <a:hlinkClick r:id="rId4"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5"/>
              <a:stretch>
                <a:fillRect/>
              </a:stretch>
            </a:blipFill>
          </p:spPr>
        </p:sp>
      </p:grpSp>
      <p:grpSp>
        <p:nvGrpSpPr>
          <p:cNvPr id="8" name="Group 8"/>
          <p:cNvGrpSpPr/>
          <p:nvPr/>
        </p:nvGrpSpPr>
        <p:grpSpPr>
          <a:xfrm>
            <a:off x="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11797398" y="361940"/>
            <a:ext cx="7088238" cy="952652"/>
          </a:xfrm>
          <a:prstGeom prst="rect">
            <a:avLst/>
          </a:prstGeom>
        </p:spPr>
        <p:txBody>
          <a:bodyPr lIns="0" tIns="0" rIns="0" bIns="0" rtlCol="0" anchor="t">
            <a:spAutoFit/>
          </a:bodyPr>
          <a:lstStyle/>
          <a:p>
            <a:pPr algn="l">
              <a:lnSpc>
                <a:spcPts val="6900"/>
              </a:lnSpc>
            </a:pPr>
            <a:r>
              <a:rPr lang="en-US" sz="5500">
                <a:solidFill>
                  <a:srgbClr val="3F6FF3"/>
                </a:solidFill>
                <a:latin typeface="Arimo"/>
                <a:ea typeface="Arimo"/>
                <a:cs typeface="Arimo"/>
                <a:sym typeface="Arimo"/>
              </a:rPr>
              <a:t>Tools</a:t>
            </a:r>
          </a:p>
        </p:txBody>
      </p:sp>
      <p:grpSp>
        <p:nvGrpSpPr>
          <p:cNvPr id="11" name="Group 11"/>
          <p:cNvGrpSpPr/>
          <p:nvPr/>
        </p:nvGrpSpPr>
        <p:grpSpPr>
          <a:xfrm>
            <a:off x="7845476" y="1350521"/>
            <a:ext cx="9455048" cy="7097201"/>
            <a:chOff x="0" y="0"/>
            <a:chExt cx="12606731" cy="9462935"/>
          </a:xfrm>
        </p:grpSpPr>
        <p:sp>
          <p:nvSpPr>
            <p:cNvPr id="12" name="Freeform 12"/>
            <p:cNvSpPr/>
            <p:nvPr/>
          </p:nvSpPr>
          <p:spPr>
            <a:xfrm>
              <a:off x="6350" y="6350"/>
              <a:ext cx="12593955" cy="9450324"/>
            </a:xfrm>
            <a:custGeom>
              <a:avLst/>
              <a:gdLst/>
              <a:ahLst/>
              <a:cxnLst/>
              <a:rect l="l" t="t" r="r" b="b"/>
              <a:pathLst>
                <a:path w="12593955" h="9450324">
                  <a:moveTo>
                    <a:pt x="0" y="1059434"/>
                  </a:moveTo>
                  <a:cubicBezTo>
                    <a:pt x="0" y="474345"/>
                    <a:pt x="474472" y="0"/>
                    <a:pt x="1059688" y="0"/>
                  </a:cubicBezTo>
                  <a:lnTo>
                    <a:pt x="11534267" y="0"/>
                  </a:lnTo>
                  <a:cubicBezTo>
                    <a:pt x="12119483" y="0"/>
                    <a:pt x="12593955" y="474345"/>
                    <a:pt x="12593955" y="1059434"/>
                  </a:cubicBezTo>
                  <a:lnTo>
                    <a:pt x="12593955" y="8390890"/>
                  </a:lnTo>
                  <a:cubicBezTo>
                    <a:pt x="12593955" y="8975979"/>
                    <a:pt x="12119483" y="9450324"/>
                    <a:pt x="11534267" y="9450324"/>
                  </a:cubicBezTo>
                  <a:lnTo>
                    <a:pt x="1059688" y="9450324"/>
                  </a:lnTo>
                  <a:cubicBezTo>
                    <a:pt x="474472" y="9450197"/>
                    <a:pt x="0" y="8975979"/>
                    <a:pt x="0" y="8390890"/>
                  </a:cubicBezTo>
                  <a:close/>
                </a:path>
              </a:pathLst>
            </a:custGeom>
            <a:solidFill>
              <a:srgbClr val="CFDBFC"/>
            </a:solidFill>
          </p:spPr>
        </p:sp>
        <p:sp>
          <p:nvSpPr>
            <p:cNvPr id="13" name="Freeform 13"/>
            <p:cNvSpPr/>
            <p:nvPr/>
          </p:nvSpPr>
          <p:spPr>
            <a:xfrm>
              <a:off x="0" y="0"/>
              <a:ext cx="12606655" cy="9463024"/>
            </a:xfrm>
            <a:custGeom>
              <a:avLst/>
              <a:gdLst/>
              <a:ahLst/>
              <a:cxnLst/>
              <a:rect l="l" t="t" r="r" b="b"/>
              <a:pathLst>
                <a:path w="12606655" h="9463024">
                  <a:moveTo>
                    <a:pt x="0" y="1065784"/>
                  </a:moveTo>
                  <a:cubicBezTo>
                    <a:pt x="0" y="477139"/>
                    <a:pt x="477266" y="0"/>
                    <a:pt x="1066038" y="0"/>
                  </a:cubicBezTo>
                  <a:lnTo>
                    <a:pt x="11540617" y="0"/>
                  </a:lnTo>
                  <a:lnTo>
                    <a:pt x="11540617" y="6350"/>
                  </a:lnTo>
                  <a:lnTo>
                    <a:pt x="11540617" y="0"/>
                  </a:lnTo>
                  <a:cubicBezTo>
                    <a:pt x="12129389" y="0"/>
                    <a:pt x="12606655" y="477139"/>
                    <a:pt x="12606655" y="1065784"/>
                  </a:cubicBezTo>
                  <a:lnTo>
                    <a:pt x="12600305" y="1065784"/>
                  </a:lnTo>
                  <a:lnTo>
                    <a:pt x="12606655" y="1065784"/>
                  </a:lnTo>
                  <a:lnTo>
                    <a:pt x="12606655" y="8397240"/>
                  </a:lnTo>
                  <a:lnTo>
                    <a:pt x="12600305" y="8397240"/>
                  </a:lnTo>
                  <a:lnTo>
                    <a:pt x="12606655" y="8397240"/>
                  </a:lnTo>
                  <a:cubicBezTo>
                    <a:pt x="12606655" y="8985885"/>
                    <a:pt x="12129389" y="9463024"/>
                    <a:pt x="11540617" y="9463024"/>
                  </a:cubicBezTo>
                  <a:lnTo>
                    <a:pt x="11540617" y="9456674"/>
                  </a:lnTo>
                  <a:lnTo>
                    <a:pt x="11540617" y="9463024"/>
                  </a:lnTo>
                  <a:lnTo>
                    <a:pt x="1066038" y="9463024"/>
                  </a:lnTo>
                  <a:lnTo>
                    <a:pt x="1066038" y="9456674"/>
                  </a:lnTo>
                  <a:lnTo>
                    <a:pt x="1066038" y="9463024"/>
                  </a:lnTo>
                  <a:cubicBezTo>
                    <a:pt x="477266" y="9462897"/>
                    <a:pt x="0" y="8985758"/>
                    <a:pt x="0" y="8397240"/>
                  </a:cubicBezTo>
                  <a:lnTo>
                    <a:pt x="0" y="1065784"/>
                  </a:lnTo>
                  <a:lnTo>
                    <a:pt x="6350" y="1065784"/>
                  </a:lnTo>
                  <a:lnTo>
                    <a:pt x="0" y="1065784"/>
                  </a:lnTo>
                  <a:moveTo>
                    <a:pt x="12700" y="1065784"/>
                  </a:moveTo>
                  <a:lnTo>
                    <a:pt x="12700" y="8397240"/>
                  </a:lnTo>
                  <a:lnTo>
                    <a:pt x="6350" y="8397240"/>
                  </a:lnTo>
                  <a:lnTo>
                    <a:pt x="12700" y="8397240"/>
                  </a:lnTo>
                  <a:cubicBezTo>
                    <a:pt x="12700" y="8978773"/>
                    <a:pt x="484251" y="9450198"/>
                    <a:pt x="1066038" y="9450198"/>
                  </a:cubicBezTo>
                  <a:lnTo>
                    <a:pt x="11540617" y="9450198"/>
                  </a:lnTo>
                  <a:cubicBezTo>
                    <a:pt x="12122404" y="9450198"/>
                    <a:pt x="12593955" y="8978773"/>
                    <a:pt x="12593955" y="8397240"/>
                  </a:cubicBezTo>
                  <a:lnTo>
                    <a:pt x="12593955" y="1065784"/>
                  </a:lnTo>
                  <a:cubicBezTo>
                    <a:pt x="12594082" y="484124"/>
                    <a:pt x="12122404" y="12700"/>
                    <a:pt x="11540617" y="12700"/>
                  </a:cubicBezTo>
                  <a:lnTo>
                    <a:pt x="1066038" y="12700"/>
                  </a:lnTo>
                  <a:lnTo>
                    <a:pt x="1066038" y="6350"/>
                  </a:lnTo>
                  <a:lnTo>
                    <a:pt x="1066038" y="12700"/>
                  </a:lnTo>
                  <a:cubicBezTo>
                    <a:pt x="484251" y="12700"/>
                    <a:pt x="12700" y="484124"/>
                    <a:pt x="12700" y="1065784"/>
                  </a:cubicBezTo>
                  <a:close/>
                </a:path>
              </a:pathLst>
            </a:custGeom>
            <a:solidFill>
              <a:srgbClr val="B5C1E2"/>
            </a:solidFill>
          </p:spPr>
        </p:sp>
      </p:grpSp>
      <p:grpSp>
        <p:nvGrpSpPr>
          <p:cNvPr id="14" name="Group 14"/>
          <p:cNvGrpSpPr/>
          <p:nvPr/>
        </p:nvGrpSpPr>
        <p:grpSpPr>
          <a:xfrm>
            <a:off x="14476638" y="3373229"/>
            <a:ext cx="3544043" cy="1141621"/>
            <a:chOff x="0" y="0"/>
            <a:chExt cx="4725391" cy="1522161"/>
          </a:xfrm>
        </p:grpSpPr>
        <p:sp>
          <p:nvSpPr>
            <p:cNvPr id="15" name="Freeform 15"/>
            <p:cNvSpPr/>
            <p:nvPr/>
          </p:nvSpPr>
          <p:spPr>
            <a:xfrm>
              <a:off x="0" y="0"/>
              <a:ext cx="4725392" cy="1522159"/>
            </a:xfrm>
            <a:custGeom>
              <a:avLst/>
              <a:gdLst/>
              <a:ahLst/>
              <a:cxnLst/>
              <a:rect l="l" t="t" r="r" b="b"/>
              <a:pathLst>
                <a:path w="4725392" h="1522159">
                  <a:moveTo>
                    <a:pt x="0" y="0"/>
                  </a:moveTo>
                  <a:lnTo>
                    <a:pt x="4725392" y="0"/>
                  </a:lnTo>
                  <a:lnTo>
                    <a:pt x="4725392" y="1522159"/>
                  </a:lnTo>
                  <a:lnTo>
                    <a:pt x="0" y="1522159"/>
                  </a:lnTo>
                  <a:close/>
                </a:path>
              </a:pathLst>
            </a:custGeom>
            <a:blipFill>
              <a:blip r:embed="rId7">
                <a:alphaModFix amt="0"/>
              </a:blip>
              <a:stretch>
                <a:fillRect t="-41090" b="20112"/>
              </a:stretch>
            </a:blipFill>
          </p:spPr>
        </p:sp>
        <p:sp>
          <p:nvSpPr>
            <p:cNvPr id="16" name="TextBox 16"/>
            <p:cNvSpPr txBox="1"/>
            <p:nvPr/>
          </p:nvSpPr>
          <p:spPr>
            <a:xfrm>
              <a:off x="0" y="285750"/>
              <a:ext cx="4725391" cy="1236411"/>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Python</a:t>
              </a:r>
            </a:p>
          </p:txBody>
        </p:sp>
      </p:grpSp>
      <p:grpSp>
        <p:nvGrpSpPr>
          <p:cNvPr id="17" name="Group 17"/>
          <p:cNvGrpSpPr/>
          <p:nvPr/>
        </p:nvGrpSpPr>
        <p:grpSpPr>
          <a:xfrm>
            <a:off x="8342476" y="2179338"/>
            <a:ext cx="3811404" cy="1998871"/>
            <a:chOff x="0" y="0"/>
            <a:chExt cx="5081873" cy="2665161"/>
          </a:xfrm>
        </p:grpSpPr>
        <p:sp>
          <p:nvSpPr>
            <p:cNvPr id="18" name="Freeform 18"/>
            <p:cNvSpPr/>
            <p:nvPr/>
          </p:nvSpPr>
          <p:spPr>
            <a:xfrm>
              <a:off x="0" y="0"/>
              <a:ext cx="5081874" cy="2665158"/>
            </a:xfrm>
            <a:custGeom>
              <a:avLst/>
              <a:gdLst/>
              <a:ahLst/>
              <a:cxnLst/>
              <a:rect l="l" t="t" r="r" b="b"/>
              <a:pathLst>
                <a:path w="5081874" h="2665158">
                  <a:moveTo>
                    <a:pt x="0" y="0"/>
                  </a:moveTo>
                  <a:lnTo>
                    <a:pt x="5081874" y="0"/>
                  </a:lnTo>
                  <a:lnTo>
                    <a:pt x="5081874" y="2665158"/>
                  </a:lnTo>
                  <a:lnTo>
                    <a:pt x="0" y="2665158"/>
                  </a:lnTo>
                  <a:close/>
                </a:path>
              </a:pathLst>
            </a:custGeom>
            <a:blipFill>
              <a:blip r:embed="rId7">
                <a:alphaModFix amt="0"/>
              </a:blip>
              <a:stretch>
                <a:fillRect t="-23468" r="7014" b="54373"/>
              </a:stretch>
            </a:blipFill>
          </p:spPr>
        </p:sp>
        <p:sp>
          <p:nvSpPr>
            <p:cNvPr id="19" name="TextBox 19"/>
            <p:cNvSpPr txBox="1"/>
            <p:nvPr/>
          </p:nvSpPr>
          <p:spPr>
            <a:xfrm>
              <a:off x="0" y="285750"/>
              <a:ext cx="5081873" cy="2379411"/>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TensorFlow </a:t>
              </a:r>
            </a:p>
            <a:p>
              <a:pPr algn="l">
                <a:lnSpc>
                  <a:spcPts val="3399"/>
                </a:lnSpc>
              </a:pPr>
              <a:endParaRPr lang="en-US" sz="5599">
                <a:solidFill>
                  <a:srgbClr val="000000"/>
                </a:solidFill>
                <a:latin typeface="Arimo"/>
                <a:ea typeface="Arimo"/>
                <a:cs typeface="Arimo"/>
                <a:sym typeface="Arimo"/>
              </a:endParaRPr>
            </a:p>
          </p:txBody>
        </p:sp>
      </p:grpSp>
      <p:grpSp>
        <p:nvGrpSpPr>
          <p:cNvPr id="20" name="Group 20"/>
          <p:cNvGrpSpPr/>
          <p:nvPr/>
        </p:nvGrpSpPr>
        <p:grpSpPr>
          <a:xfrm>
            <a:off x="8952757" y="4514850"/>
            <a:ext cx="3544043" cy="1141621"/>
            <a:chOff x="0" y="0"/>
            <a:chExt cx="4725391" cy="1522161"/>
          </a:xfrm>
        </p:grpSpPr>
        <p:sp>
          <p:nvSpPr>
            <p:cNvPr id="21" name="Freeform 21"/>
            <p:cNvSpPr/>
            <p:nvPr/>
          </p:nvSpPr>
          <p:spPr>
            <a:xfrm>
              <a:off x="0" y="0"/>
              <a:ext cx="4725392" cy="1522159"/>
            </a:xfrm>
            <a:custGeom>
              <a:avLst/>
              <a:gdLst/>
              <a:ahLst/>
              <a:cxnLst/>
              <a:rect l="l" t="t" r="r" b="b"/>
              <a:pathLst>
                <a:path w="4725392" h="1522159">
                  <a:moveTo>
                    <a:pt x="0" y="0"/>
                  </a:moveTo>
                  <a:lnTo>
                    <a:pt x="4725392" y="0"/>
                  </a:lnTo>
                  <a:lnTo>
                    <a:pt x="4725392" y="1522159"/>
                  </a:lnTo>
                  <a:lnTo>
                    <a:pt x="0" y="1522159"/>
                  </a:lnTo>
                  <a:close/>
                </a:path>
              </a:pathLst>
            </a:custGeom>
            <a:blipFill>
              <a:blip r:embed="rId7">
                <a:alphaModFix amt="0"/>
              </a:blip>
              <a:stretch>
                <a:fillRect t="-41090" b="20112"/>
              </a:stretch>
            </a:blipFill>
          </p:spPr>
        </p:sp>
        <p:sp>
          <p:nvSpPr>
            <p:cNvPr id="22" name="TextBox 22"/>
            <p:cNvSpPr txBox="1"/>
            <p:nvPr/>
          </p:nvSpPr>
          <p:spPr>
            <a:xfrm>
              <a:off x="0" y="285750"/>
              <a:ext cx="4725391" cy="1236411"/>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Keras</a:t>
              </a:r>
            </a:p>
          </p:txBody>
        </p:sp>
      </p:grpSp>
      <p:grpSp>
        <p:nvGrpSpPr>
          <p:cNvPr id="23" name="Group 23"/>
          <p:cNvGrpSpPr/>
          <p:nvPr/>
        </p:nvGrpSpPr>
        <p:grpSpPr>
          <a:xfrm>
            <a:off x="13954852" y="2091821"/>
            <a:ext cx="3544043" cy="1570246"/>
            <a:chOff x="0" y="0"/>
            <a:chExt cx="4725391" cy="2093661"/>
          </a:xfrm>
        </p:grpSpPr>
        <p:sp>
          <p:nvSpPr>
            <p:cNvPr id="24" name="Freeform 24"/>
            <p:cNvSpPr/>
            <p:nvPr/>
          </p:nvSpPr>
          <p:spPr>
            <a:xfrm>
              <a:off x="0" y="0"/>
              <a:ext cx="4725392" cy="2093659"/>
            </a:xfrm>
            <a:custGeom>
              <a:avLst/>
              <a:gdLst/>
              <a:ahLst/>
              <a:cxnLst/>
              <a:rect l="l" t="t" r="r" b="b"/>
              <a:pathLst>
                <a:path w="4725392" h="2093659">
                  <a:moveTo>
                    <a:pt x="0" y="0"/>
                  </a:moveTo>
                  <a:lnTo>
                    <a:pt x="4725392" y="0"/>
                  </a:lnTo>
                  <a:lnTo>
                    <a:pt x="4725392" y="2093659"/>
                  </a:lnTo>
                  <a:lnTo>
                    <a:pt x="0" y="2093659"/>
                  </a:lnTo>
                  <a:close/>
                </a:path>
              </a:pathLst>
            </a:custGeom>
            <a:blipFill>
              <a:blip r:embed="rId7">
                <a:alphaModFix amt="0"/>
              </a:blip>
              <a:stretch>
                <a:fillRect t="-29874" b="41918"/>
              </a:stretch>
            </a:blipFill>
          </p:spPr>
        </p:sp>
        <p:sp>
          <p:nvSpPr>
            <p:cNvPr id="25" name="TextBox 25"/>
            <p:cNvSpPr txBox="1"/>
            <p:nvPr/>
          </p:nvSpPr>
          <p:spPr>
            <a:xfrm>
              <a:off x="0" y="285750"/>
              <a:ext cx="4725391" cy="1807911"/>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OpenCV</a:t>
              </a:r>
            </a:p>
            <a:p>
              <a:pPr algn="l">
                <a:lnSpc>
                  <a:spcPts val="3399"/>
                </a:lnSpc>
              </a:pPr>
              <a:endParaRPr lang="en-US" sz="5599">
                <a:solidFill>
                  <a:srgbClr val="000000"/>
                </a:solidFill>
                <a:latin typeface="Arimo"/>
                <a:ea typeface="Arimo"/>
                <a:cs typeface="Arimo"/>
                <a:sym typeface="Arimo"/>
              </a:endParaRPr>
            </a:p>
          </p:txBody>
        </p:sp>
      </p:grpSp>
      <p:grpSp>
        <p:nvGrpSpPr>
          <p:cNvPr id="26" name="Group 26"/>
          <p:cNvGrpSpPr/>
          <p:nvPr/>
        </p:nvGrpSpPr>
        <p:grpSpPr>
          <a:xfrm>
            <a:off x="14690097" y="6796635"/>
            <a:ext cx="3659769" cy="1315673"/>
            <a:chOff x="-154300" y="0"/>
            <a:chExt cx="4879692" cy="1754230"/>
          </a:xfrm>
        </p:grpSpPr>
        <p:sp>
          <p:nvSpPr>
            <p:cNvPr id="27" name="Freeform 27"/>
            <p:cNvSpPr/>
            <p:nvPr/>
          </p:nvSpPr>
          <p:spPr>
            <a:xfrm>
              <a:off x="0" y="0"/>
              <a:ext cx="4725392" cy="1522159"/>
            </a:xfrm>
            <a:custGeom>
              <a:avLst/>
              <a:gdLst/>
              <a:ahLst/>
              <a:cxnLst/>
              <a:rect l="l" t="t" r="r" b="b"/>
              <a:pathLst>
                <a:path w="4725392" h="1522159">
                  <a:moveTo>
                    <a:pt x="0" y="0"/>
                  </a:moveTo>
                  <a:lnTo>
                    <a:pt x="4725392" y="0"/>
                  </a:lnTo>
                  <a:lnTo>
                    <a:pt x="4725392" y="1522159"/>
                  </a:lnTo>
                  <a:lnTo>
                    <a:pt x="0" y="1522159"/>
                  </a:lnTo>
                  <a:close/>
                </a:path>
              </a:pathLst>
            </a:custGeom>
            <a:blipFill>
              <a:blip r:embed="rId7">
                <a:alphaModFix amt="0"/>
              </a:blip>
              <a:stretch>
                <a:fillRect t="-41090" b="20112"/>
              </a:stretch>
            </a:blipFill>
          </p:spPr>
        </p:sp>
        <p:sp>
          <p:nvSpPr>
            <p:cNvPr id="28" name="TextBox 28"/>
            <p:cNvSpPr txBox="1"/>
            <p:nvPr/>
          </p:nvSpPr>
          <p:spPr>
            <a:xfrm>
              <a:off x="-154300" y="517820"/>
              <a:ext cx="4725391" cy="1236410"/>
            </a:xfrm>
            <a:prstGeom prst="rect">
              <a:avLst/>
            </a:prstGeom>
          </p:spPr>
          <p:txBody>
            <a:bodyPr lIns="0" tIns="0" rIns="0" bIns="0" rtlCol="0" anchor="ctr"/>
            <a:lstStyle/>
            <a:p>
              <a:pPr algn="l">
                <a:lnSpc>
                  <a:spcPts val="3399"/>
                </a:lnSpc>
              </a:pPr>
              <a:r>
                <a:rPr lang="en-US" sz="5599" dirty="0">
                  <a:solidFill>
                    <a:srgbClr val="000000"/>
                  </a:solidFill>
                  <a:latin typeface="Arimo"/>
                  <a:ea typeface="Arimo"/>
                  <a:cs typeface="Arimo"/>
                  <a:sym typeface="Arimo"/>
                </a:rPr>
                <a:t>CSS</a:t>
              </a:r>
            </a:p>
          </p:txBody>
        </p:sp>
      </p:grpSp>
      <p:grpSp>
        <p:nvGrpSpPr>
          <p:cNvPr id="29" name="Group 29"/>
          <p:cNvGrpSpPr/>
          <p:nvPr/>
        </p:nvGrpSpPr>
        <p:grpSpPr>
          <a:xfrm>
            <a:off x="14592300" y="5811942"/>
            <a:ext cx="3544043" cy="1141621"/>
            <a:chOff x="0" y="0"/>
            <a:chExt cx="4725391" cy="1522161"/>
          </a:xfrm>
        </p:grpSpPr>
        <p:sp>
          <p:nvSpPr>
            <p:cNvPr id="30" name="Freeform 30"/>
            <p:cNvSpPr/>
            <p:nvPr/>
          </p:nvSpPr>
          <p:spPr>
            <a:xfrm>
              <a:off x="0" y="0"/>
              <a:ext cx="4725392" cy="1522159"/>
            </a:xfrm>
            <a:custGeom>
              <a:avLst/>
              <a:gdLst/>
              <a:ahLst/>
              <a:cxnLst/>
              <a:rect l="l" t="t" r="r" b="b"/>
              <a:pathLst>
                <a:path w="4725392" h="1522159">
                  <a:moveTo>
                    <a:pt x="0" y="0"/>
                  </a:moveTo>
                  <a:lnTo>
                    <a:pt x="4725392" y="0"/>
                  </a:lnTo>
                  <a:lnTo>
                    <a:pt x="4725392" y="1522159"/>
                  </a:lnTo>
                  <a:lnTo>
                    <a:pt x="0" y="1522159"/>
                  </a:lnTo>
                  <a:close/>
                </a:path>
              </a:pathLst>
            </a:custGeom>
            <a:blipFill>
              <a:blip r:embed="rId7">
                <a:alphaModFix amt="0"/>
              </a:blip>
              <a:stretch>
                <a:fillRect t="-41090" b="20112"/>
              </a:stretch>
            </a:blipFill>
          </p:spPr>
        </p:sp>
        <p:sp>
          <p:nvSpPr>
            <p:cNvPr id="31" name="TextBox 31"/>
            <p:cNvSpPr txBox="1"/>
            <p:nvPr/>
          </p:nvSpPr>
          <p:spPr>
            <a:xfrm>
              <a:off x="0" y="285750"/>
              <a:ext cx="4725391" cy="1236411"/>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HTML</a:t>
              </a:r>
            </a:p>
          </p:txBody>
        </p:sp>
      </p:grpSp>
      <p:grpSp>
        <p:nvGrpSpPr>
          <p:cNvPr id="32" name="Group 32"/>
          <p:cNvGrpSpPr/>
          <p:nvPr/>
        </p:nvGrpSpPr>
        <p:grpSpPr>
          <a:xfrm>
            <a:off x="8770569" y="3527026"/>
            <a:ext cx="3544043" cy="1141621"/>
            <a:chOff x="0" y="0"/>
            <a:chExt cx="4725391" cy="1522161"/>
          </a:xfrm>
        </p:grpSpPr>
        <p:sp>
          <p:nvSpPr>
            <p:cNvPr id="33" name="Freeform 33"/>
            <p:cNvSpPr/>
            <p:nvPr/>
          </p:nvSpPr>
          <p:spPr>
            <a:xfrm>
              <a:off x="0" y="0"/>
              <a:ext cx="4725392" cy="1522159"/>
            </a:xfrm>
            <a:custGeom>
              <a:avLst/>
              <a:gdLst/>
              <a:ahLst/>
              <a:cxnLst/>
              <a:rect l="l" t="t" r="r" b="b"/>
              <a:pathLst>
                <a:path w="4725392" h="1522159">
                  <a:moveTo>
                    <a:pt x="0" y="0"/>
                  </a:moveTo>
                  <a:lnTo>
                    <a:pt x="4725392" y="0"/>
                  </a:lnTo>
                  <a:lnTo>
                    <a:pt x="4725392" y="1522159"/>
                  </a:lnTo>
                  <a:lnTo>
                    <a:pt x="0" y="1522159"/>
                  </a:lnTo>
                  <a:close/>
                </a:path>
              </a:pathLst>
            </a:custGeom>
            <a:blipFill>
              <a:blip r:embed="rId7">
                <a:alphaModFix amt="0"/>
              </a:blip>
              <a:stretch>
                <a:fillRect t="-41090" b="20112"/>
              </a:stretch>
            </a:blipFill>
          </p:spPr>
        </p:sp>
        <p:sp>
          <p:nvSpPr>
            <p:cNvPr id="34" name="TextBox 34"/>
            <p:cNvSpPr txBox="1"/>
            <p:nvPr/>
          </p:nvSpPr>
          <p:spPr>
            <a:xfrm>
              <a:off x="0" y="285750"/>
              <a:ext cx="4725391" cy="1236411"/>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Tkinter</a:t>
              </a:r>
            </a:p>
          </p:txBody>
        </p:sp>
      </p:grpSp>
      <p:grpSp>
        <p:nvGrpSpPr>
          <p:cNvPr id="35" name="Group 35"/>
          <p:cNvGrpSpPr/>
          <p:nvPr/>
        </p:nvGrpSpPr>
        <p:grpSpPr>
          <a:xfrm>
            <a:off x="8952757" y="5716118"/>
            <a:ext cx="3544043" cy="1141621"/>
            <a:chOff x="0" y="0"/>
            <a:chExt cx="4725391" cy="1522161"/>
          </a:xfrm>
        </p:grpSpPr>
        <p:sp>
          <p:nvSpPr>
            <p:cNvPr id="36" name="Freeform 36"/>
            <p:cNvSpPr/>
            <p:nvPr/>
          </p:nvSpPr>
          <p:spPr>
            <a:xfrm>
              <a:off x="0" y="0"/>
              <a:ext cx="4725392" cy="1522159"/>
            </a:xfrm>
            <a:custGeom>
              <a:avLst/>
              <a:gdLst/>
              <a:ahLst/>
              <a:cxnLst/>
              <a:rect l="l" t="t" r="r" b="b"/>
              <a:pathLst>
                <a:path w="4725392" h="1522159">
                  <a:moveTo>
                    <a:pt x="0" y="0"/>
                  </a:moveTo>
                  <a:lnTo>
                    <a:pt x="4725392" y="0"/>
                  </a:lnTo>
                  <a:lnTo>
                    <a:pt x="4725392" y="1522159"/>
                  </a:lnTo>
                  <a:lnTo>
                    <a:pt x="0" y="1522159"/>
                  </a:lnTo>
                  <a:close/>
                </a:path>
              </a:pathLst>
            </a:custGeom>
            <a:blipFill>
              <a:blip r:embed="rId7">
                <a:alphaModFix amt="0"/>
              </a:blip>
              <a:stretch>
                <a:fillRect t="-41090" b="20112"/>
              </a:stretch>
            </a:blipFill>
          </p:spPr>
        </p:sp>
        <p:sp>
          <p:nvSpPr>
            <p:cNvPr id="37" name="TextBox 37"/>
            <p:cNvSpPr txBox="1"/>
            <p:nvPr/>
          </p:nvSpPr>
          <p:spPr>
            <a:xfrm>
              <a:off x="0" y="285750"/>
              <a:ext cx="4725391" cy="1236411"/>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Flask </a:t>
              </a:r>
            </a:p>
          </p:txBody>
        </p:sp>
      </p:grpSp>
      <p:grpSp>
        <p:nvGrpSpPr>
          <p:cNvPr id="38" name="Group 38"/>
          <p:cNvGrpSpPr/>
          <p:nvPr/>
        </p:nvGrpSpPr>
        <p:grpSpPr>
          <a:xfrm>
            <a:off x="14476638" y="4668646"/>
            <a:ext cx="3544043" cy="1143295"/>
            <a:chOff x="0" y="0"/>
            <a:chExt cx="4725391" cy="1524394"/>
          </a:xfrm>
        </p:grpSpPr>
        <p:sp>
          <p:nvSpPr>
            <p:cNvPr id="39" name="Freeform 39"/>
            <p:cNvSpPr/>
            <p:nvPr/>
          </p:nvSpPr>
          <p:spPr>
            <a:xfrm>
              <a:off x="0" y="0"/>
              <a:ext cx="4725392" cy="1524392"/>
            </a:xfrm>
            <a:custGeom>
              <a:avLst/>
              <a:gdLst/>
              <a:ahLst/>
              <a:cxnLst/>
              <a:rect l="l" t="t" r="r" b="b"/>
              <a:pathLst>
                <a:path w="4725392" h="1524392">
                  <a:moveTo>
                    <a:pt x="0" y="0"/>
                  </a:moveTo>
                  <a:lnTo>
                    <a:pt x="4725392" y="0"/>
                  </a:lnTo>
                  <a:lnTo>
                    <a:pt x="4725392" y="1524392"/>
                  </a:lnTo>
                  <a:lnTo>
                    <a:pt x="0" y="1524392"/>
                  </a:lnTo>
                  <a:close/>
                </a:path>
              </a:pathLst>
            </a:custGeom>
            <a:blipFill>
              <a:blip r:embed="rId7">
                <a:alphaModFix amt="0"/>
              </a:blip>
              <a:stretch>
                <a:fillRect t="-41030" b="20229"/>
              </a:stretch>
            </a:blipFill>
          </p:spPr>
        </p:sp>
        <p:sp>
          <p:nvSpPr>
            <p:cNvPr id="40" name="TextBox 40"/>
            <p:cNvSpPr txBox="1"/>
            <p:nvPr/>
          </p:nvSpPr>
          <p:spPr>
            <a:xfrm>
              <a:off x="0" y="285750"/>
              <a:ext cx="4725391" cy="1238644"/>
            </a:xfrm>
            <a:prstGeom prst="rect">
              <a:avLst/>
            </a:prstGeom>
          </p:spPr>
          <p:txBody>
            <a:bodyPr lIns="0" tIns="0" rIns="0" bIns="0" rtlCol="0" anchor="ctr"/>
            <a:lstStyle/>
            <a:p>
              <a:pPr algn="l">
                <a:lnSpc>
                  <a:spcPts val="3399"/>
                </a:lnSpc>
              </a:pPr>
              <a:r>
                <a:rPr lang="en-US" sz="5599">
                  <a:solidFill>
                    <a:srgbClr val="000000"/>
                  </a:solidFill>
                  <a:latin typeface="Arimo"/>
                  <a:ea typeface="Arimo"/>
                  <a:cs typeface="Arimo"/>
                  <a:sym typeface="Arimo"/>
                </a:rPr>
                <a:t>SQLite </a:t>
              </a:r>
            </a:p>
          </p:txBody>
        </p:sp>
      </p:grpSp>
      <p:sp>
        <p:nvSpPr>
          <p:cNvPr id="41" name="TextBox 41"/>
          <p:cNvSpPr txBox="1"/>
          <p:nvPr/>
        </p:nvSpPr>
        <p:spPr>
          <a:xfrm>
            <a:off x="8849277" y="7373741"/>
            <a:ext cx="2252514" cy="564515"/>
          </a:xfrm>
          <a:prstGeom prst="rect">
            <a:avLst/>
          </a:prstGeom>
        </p:spPr>
        <p:txBody>
          <a:bodyPr lIns="0" tIns="0" rIns="0" bIns="0" rtlCol="0" anchor="t">
            <a:spAutoFit/>
          </a:bodyPr>
          <a:lstStyle/>
          <a:p>
            <a:pPr algn="l">
              <a:lnSpc>
                <a:spcPts val="3399"/>
              </a:lnSpc>
            </a:pPr>
            <a:r>
              <a:rPr lang="en-US" sz="5599">
                <a:solidFill>
                  <a:srgbClr val="000000"/>
                </a:solidFill>
                <a:latin typeface="Arimo"/>
                <a:ea typeface="Arimo"/>
                <a:cs typeface="Arimo"/>
                <a:sym typeface="Arimo"/>
              </a:rPr>
              <a:t>Numpy</a:t>
            </a:r>
          </a:p>
        </p:txBody>
      </p:sp>
      <p:grpSp>
        <p:nvGrpSpPr>
          <p:cNvPr id="42" name="Group 42"/>
          <p:cNvGrpSpPr/>
          <p:nvPr/>
        </p:nvGrpSpPr>
        <p:grpSpPr>
          <a:xfrm>
            <a:off x="15949565" y="9474203"/>
            <a:ext cx="2400300" cy="714937"/>
            <a:chOff x="0" y="0"/>
            <a:chExt cx="3200400" cy="953249"/>
          </a:xfrm>
        </p:grpSpPr>
        <p:sp>
          <p:nvSpPr>
            <p:cNvPr id="43" name="Freeform 43"/>
            <p:cNvSpPr/>
            <p:nvPr/>
          </p:nvSpPr>
          <p:spPr>
            <a:xfrm>
              <a:off x="0" y="0"/>
              <a:ext cx="3200400" cy="953262"/>
            </a:xfrm>
            <a:custGeom>
              <a:avLst/>
              <a:gdLst/>
              <a:ahLst/>
              <a:cxnLst/>
              <a:rect l="l" t="t" r="r" b="b"/>
              <a:pathLst>
                <a:path w="3200400" h="953262">
                  <a:moveTo>
                    <a:pt x="0" y="0"/>
                  </a:moveTo>
                  <a:lnTo>
                    <a:pt x="3200400" y="0"/>
                  </a:lnTo>
                  <a:lnTo>
                    <a:pt x="3200400" y="953262"/>
                  </a:lnTo>
                  <a:lnTo>
                    <a:pt x="0" y="953262"/>
                  </a:lnTo>
                  <a:close/>
                </a:path>
              </a:pathLst>
            </a:custGeom>
            <a:solidFill>
              <a:srgbClr val="FFFFFF"/>
            </a:solidFill>
          </p:spPr>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90196"/>
              </a:srgbClr>
            </a:solidFill>
          </p:spPr>
        </p:sp>
      </p:grpSp>
      <p:sp>
        <p:nvSpPr>
          <p:cNvPr id="8" name="TextBox 8"/>
          <p:cNvSpPr txBox="1"/>
          <p:nvPr/>
        </p:nvSpPr>
        <p:spPr>
          <a:xfrm>
            <a:off x="4663440" y="4867123"/>
            <a:ext cx="8961120" cy="801453"/>
          </a:xfrm>
          <a:prstGeom prst="rect">
            <a:avLst/>
          </a:prstGeom>
        </p:spPr>
        <p:txBody>
          <a:bodyPr lIns="0" tIns="0" rIns="0" bIns="0" rtlCol="0" anchor="t">
            <a:spAutoFit/>
          </a:bodyPr>
          <a:lstStyle/>
          <a:p>
            <a:pPr algn="ctr">
              <a:lnSpc>
                <a:spcPts val="6900"/>
              </a:lnSpc>
            </a:pPr>
            <a:r>
              <a:rPr lang="en-US" sz="8000">
                <a:solidFill>
                  <a:srgbClr val="3F6FF3"/>
                </a:solidFill>
                <a:latin typeface="Arimo"/>
                <a:ea typeface="Arimo"/>
                <a:cs typeface="Arimo"/>
                <a:sym typeface="Arim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599</Words>
  <Application>Microsoft Office PowerPoint</Application>
  <PresentationFormat>Custom</PresentationFormat>
  <Paragraphs>187</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Face-Mask-Detection-System EDIT.pptx</dc:title>
  <dc:creator>Rehmat-PC</dc:creator>
  <cp:lastModifiedBy>Rehmat Ullah Bashir</cp:lastModifiedBy>
  <cp:revision>3</cp:revision>
  <dcterms:created xsi:type="dcterms:W3CDTF">2006-08-16T00:00:00Z</dcterms:created>
  <dcterms:modified xsi:type="dcterms:W3CDTF">2026-09-29T13:49:26Z</dcterms:modified>
  <dc:identifier>DAHJbZj8cCg</dc:identifier>
</cp:coreProperties>
</file>